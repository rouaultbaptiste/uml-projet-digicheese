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 Bold" charset="1" panose="00000800000000000000"/>
      <p:regular r:id="rId25"/>
    </p:embeddedFont>
    <p:embeddedFont>
      <p:font typeface="Poppins Italics" charset="1" panose="00000500000000000000"/>
      <p:regular r:id="rId26"/>
    </p:embeddedFon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  <p:embeddedFont>
      <p:font typeface="Open Sans Bold Italics" charset="1" panose="020B0806030504020204"/>
      <p:regular r:id="rId29"/>
    </p:embeddedFont>
    <p:embeddedFont>
      <p:font typeface="Poppins Bold Italics" charset="1" panose="00000800000000000000"/>
      <p:regular r:id="rId30"/>
    </p:embeddedFont>
    <p:embeddedFont>
      <p:font typeface="Agrandir Bold" charset="1" panose="00000800000000000000"/>
      <p:regular r:id="rId31"/>
    </p:embeddedFont>
    <p:embeddedFont>
      <p:font typeface="Agrandir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https://github.com/RouaultBaptiste/uml-projet" TargetMode="External" Type="http://schemas.openxmlformats.org/officeDocument/2006/relationships/hyperlink"/><Relationship Id="rId6" Target="https://www.figma.com/design/HDBPwo9bajFaf4wrRu3ZE9/Login-Page-design--Community-?node-id=0-1&amp;t=bawmsQr3TcxGzJxY-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11437">
            <a:off x="-344811" y="325489"/>
            <a:ext cx="18169404" cy="6855857"/>
            <a:chOff x="0" y="0"/>
            <a:chExt cx="4785358" cy="1805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5358" cy="1805658"/>
            </a:xfrm>
            <a:custGeom>
              <a:avLst/>
              <a:gdLst/>
              <a:ahLst/>
              <a:cxnLst/>
              <a:rect r="r" b="b" t="t" l="l"/>
              <a:pathLst>
                <a:path h="1805658" w="4785358">
                  <a:moveTo>
                    <a:pt x="0" y="0"/>
                  </a:moveTo>
                  <a:lnTo>
                    <a:pt x="4785358" y="0"/>
                  </a:lnTo>
                  <a:lnTo>
                    <a:pt x="4785358" y="1805658"/>
                  </a:lnTo>
                  <a:lnTo>
                    <a:pt x="0" y="1805658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785358" cy="1900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23799">
            <a:off x="-13154518" y="561813"/>
            <a:ext cx="21956819" cy="10119890"/>
            <a:chOff x="0" y="0"/>
            <a:chExt cx="5782866" cy="2665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82866" cy="2665321"/>
            </a:xfrm>
            <a:custGeom>
              <a:avLst/>
              <a:gdLst/>
              <a:ahLst/>
              <a:cxnLst/>
              <a:rect r="r" b="b" t="t" l="l"/>
              <a:pathLst>
                <a:path h="2665321" w="5782866">
                  <a:moveTo>
                    <a:pt x="0" y="0"/>
                  </a:moveTo>
                  <a:lnTo>
                    <a:pt x="5782866" y="0"/>
                  </a:lnTo>
                  <a:lnTo>
                    <a:pt x="5782866" y="2665321"/>
                  </a:lnTo>
                  <a:lnTo>
                    <a:pt x="0" y="2665321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5782866" cy="2760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3768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0" y="71438"/>
            <a:ext cx="7048145" cy="0"/>
          </a:xfrm>
          <a:prstGeom prst="line">
            <a:avLst/>
          </a:prstGeom>
          <a:ln cap="flat" w="276225">
            <a:solidFill>
              <a:srgbClr val="30C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239848" y="71438"/>
            <a:ext cx="7048145" cy="0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6029" y="71438"/>
            <a:ext cx="5002369" cy="0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850248" y="1539376"/>
            <a:ext cx="3132310" cy="3132310"/>
          </a:xfrm>
          <a:custGeom>
            <a:avLst/>
            <a:gdLst/>
            <a:ahLst/>
            <a:cxnLst/>
            <a:rect r="r" b="b" t="t" l="l"/>
            <a:pathLst>
              <a:path h="3132310" w="3132310">
                <a:moveTo>
                  <a:pt x="0" y="0"/>
                </a:moveTo>
                <a:lnTo>
                  <a:pt x="3132310" y="0"/>
                </a:lnTo>
                <a:lnTo>
                  <a:pt x="3132310" y="3132310"/>
                </a:lnTo>
                <a:lnTo>
                  <a:pt x="0" y="313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31256">
            <a:off x="807174" y="4269999"/>
            <a:ext cx="16319841" cy="1677008"/>
            <a:chOff x="0" y="0"/>
            <a:chExt cx="1693596" cy="174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3596" cy="174032"/>
            </a:xfrm>
            <a:custGeom>
              <a:avLst/>
              <a:gdLst/>
              <a:ahLst/>
              <a:cxnLst/>
              <a:rect r="r" b="b" t="t" l="l"/>
              <a:pathLst>
                <a:path h="174032" w="1693596">
                  <a:moveTo>
                    <a:pt x="7042" y="0"/>
                  </a:moveTo>
                  <a:lnTo>
                    <a:pt x="1686554" y="0"/>
                  </a:lnTo>
                  <a:cubicBezTo>
                    <a:pt x="1688422" y="0"/>
                    <a:pt x="1690213" y="742"/>
                    <a:pt x="1691533" y="2062"/>
                  </a:cubicBezTo>
                  <a:cubicBezTo>
                    <a:pt x="1692854" y="3383"/>
                    <a:pt x="1693596" y="5174"/>
                    <a:pt x="1693596" y="7042"/>
                  </a:cubicBezTo>
                  <a:lnTo>
                    <a:pt x="1693596" y="166990"/>
                  </a:lnTo>
                  <a:cubicBezTo>
                    <a:pt x="1693596" y="170879"/>
                    <a:pt x="1690443" y="174032"/>
                    <a:pt x="1686554" y="174032"/>
                  </a:cubicBezTo>
                  <a:lnTo>
                    <a:pt x="7042" y="174032"/>
                  </a:lnTo>
                  <a:cubicBezTo>
                    <a:pt x="3153" y="174032"/>
                    <a:pt x="0" y="170879"/>
                    <a:pt x="0" y="166990"/>
                  </a:cubicBezTo>
                  <a:lnTo>
                    <a:pt x="0" y="7042"/>
                  </a:lnTo>
                  <a:cubicBezTo>
                    <a:pt x="0" y="3153"/>
                    <a:pt x="3153" y="0"/>
                    <a:pt x="7042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693596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1575" y="4784965"/>
            <a:ext cx="15274671" cy="1502317"/>
            <a:chOff x="0" y="0"/>
            <a:chExt cx="1585133" cy="155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5133" cy="155903"/>
            </a:xfrm>
            <a:custGeom>
              <a:avLst/>
              <a:gdLst/>
              <a:ahLst/>
              <a:cxnLst/>
              <a:rect r="r" b="b" t="t" l="l"/>
              <a:pathLst>
                <a:path h="155903" w="1585133">
                  <a:moveTo>
                    <a:pt x="7524" y="0"/>
                  </a:moveTo>
                  <a:lnTo>
                    <a:pt x="1577610" y="0"/>
                  </a:lnTo>
                  <a:cubicBezTo>
                    <a:pt x="1581765" y="0"/>
                    <a:pt x="1585133" y="3368"/>
                    <a:pt x="1585133" y="7524"/>
                  </a:cubicBezTo>
                  <a:lnTo>
                    <a:pt x="1585133" y="148380"/>
                  </a:lnTo>
                  <a:cubicBezTo>
                    <a:pt x="1585133" y="152535"/>
                    <a:pt x="1581765" y="155903"/>
                    <a:pt x="1577610" y="155903"/>
                  </a:cubicBezTo>
                  <a:lnTo>
                    <a:pt x="7524" y="155903"/>
                  </a:lnTo>
                  <a:cubicBezTo>
                    <a:pt x="5528" y="155903"/>
                    <a:pt x="3615" y="155111"/>
                    <a:pt x="2204" y="153700"/>
                  </a:cubicBezTo>
                  <a:cubicBezTo>
                    <a:pt x="793" y="152289"/>
                    <a:pt x="0" y="150375"/>
                    <a:pt x="0" y="148380"/>
                  </a:cubicBezTo>
                  <a:lnTo>
                    <a:pt x="0" y="7524"/>
                  </a:lnTo>
                  <a:cubicBezTo>
                    <a:pt x="0" y="3368"/>
                    <a:pt x="3368" y="0"/>
                    <a:pt x="7524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585133" cy="136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62938" y="9455014"/>
            <a:ext cx="382372" cy="462208"/>
          </a:xfrm>
          <a:custGeom>
            <a:avLst/>
            <a:gdLst/>
            <a:ahLst/>
            <a:cxnLst/>
            <a:rect r="r" b="b" t="t" l="l"/>
            <a:pathLst>
              <a:path h="462208" w="382372">
                <a:moveTo>
                  <a:pt x="0" y="0"/>
                </a:moveTo>
                <a:lnTo>
                  <a:pt x="382372" y="0"/>
                </a:lnTo>
                <a:lnTo>
                  <a:pt x="382372" y="462208"/>
                </a:lnTo>
                <a:lnTo>
                  <a:pt x="0" y="462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234374" y="9535076"/>
            <a:ext cx="595412" cy="382146"/>
          </a:xfrm>
          <a:custGeom>
            <a:avLst/>
            <a:gdLst/>
            <a:ahLst/>
            <a:cxnLst/>
            <a:rect r="r" b="b" t="t" l="l"/>
            <a:pathLst>
              <a:path h="382146" w="595412">
                <a:moveTo>
                  <a:pt x="0" y="0"/>
                </a:moveTo>
                <a:lnTo>
                  <a:pt x="595412" y="0"/>
                </a:lnTo>
                <a:lnTo>
                  <a:pt x="595412" y="382146"/>
                </a:lnTo>
                <a:lnTo>
                  <a:pt x="0" y="382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056151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23414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23414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4977" y="4814561"/>
            <a:ext cx="14747868" cy="110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 FROMAGERIE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DIGICHEESE V1.0 — M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dél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isation 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UML (Ges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on d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4866" i="true" spc="-296">
                <a:solidFill>
                  <a:srgbClr val="483C5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colis)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1035" y="9553146"/>
            <a:ext cx="2025997" cy="35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Baptiste Rouault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18238" y="9566833"/>
            <a:ext cx="1259532" cy="35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Diginamic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7539" y="4192601"/>
            <a:ext cx="3447520" cy="4436381"/>
            <a:chOff x="0" y="0"/>
            <a:chExt cx="3133810" cy="4032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72024" y="4192601"/>
            <a:ext cx="3447520" cy="4436381"/>
            <a:chOff x="0" y="0"/>
            <a:chExt cx="3133810" cy="403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07747" y="4192601"/>
            <a:ext cx="3447520" cy="4436381"/>
            <a:chOff x="0" y="0"/>
            <a:chExt cx="3133810" cy="4032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43470" y="4192601"/>
            <a:ext cx="3447520" cy="4436381"/>
            <a:chOff x="0" y="0"/>
            <a:chExt cx="3133810" cy="4032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AutoShape 10" id="10"/>
          <p:cNvSpPr/>
          <p:nvPr/>
        </p:nvSpPr>
        <p:spPr>
          <a:xfrm flipV="true">
            <a:off x="0" y="71438"/>
            <a:ext cx="7048145" cy="0"/>
          </a:xfrm>
          <a:prstGeom prst="line">
            <a:avLst/>
          </a:prstGeom>
          <a:ln cap="flat" w="276225">
            <a:solidFill>
              <a:srgbClr val="30C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239848" y="71438"/>
            <a:ext cx="7048145" cy="0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6029" y="71438"/>
            <a:ext cx="5002369" cy="0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786856" y="4427357"/>
            <a:ext cx="1208356" cy="1239918"/>
          </a:xfrm>
          <a:custGeom>
            <a:avLst/>
            <a:gdLst/>
            <a:ahLst/>
            <a:cxnLst/>
            <a:rect r="r" b="b" t="t" l="l"/>
            <a:pathLst>
              <a:path h="1239918" w="1208356">
                <a:moveTo>
                  <a:pt x="0" y="0"/>
                </a:moveTo>
                <a:lnTo>
                  <a:pt x="1208357" y="0"/>
                </a:lnTo>
                <a:lnTo>
                  <a:pt x="1208357" y="1239918"/>
                </a:lnTo>
                <a:lnTo>
                  <a:pt x="0" y="1239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5400000">
            <a:off x="16983768" y="9225255"/>
            <a:ext cx="100931" cy="1484865"/>
            <a:chOff x="0" y="0"/>
            <a:chExt cx="64165" cy="9439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18" id="18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437005" y="4385955"/>
            <a:ext cx="1222279" cy="1175611"/>
          </a:xfrm>
          <a:custGeom>
            <a:avLst/>
            <a:gdLst/>
            <a:ahLst/>
            <a:cxnLst/>
            <a:rect r="r" b="b" t="t" l="l"/>
            <a:pathLst>
              <a:path h="1175611" w="1222279">
                <a:moveTo>
                  <a:pt x="0" y="0"/>
                </a:moveTo>
                <a:lnTo>
                  <a:pt x="1222280" y="0"/>
                </a:lnTo>
                <a:lnTo>
                  <a:pt x="1222280" y="1175611"/>
                </a:lnTo>
                <a:lnTo>
                  <a:pt x="0" y="1175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85298" y="4501107"/>
            <a:ext cx="1092418" cy="1092418"/>
          </a:xfrm>
          <a:custGeom>
            <a:avLst/>
            <a:gdLst/>
            <a:ahLst/>
            <a:cxnLst/>
            <a:rect r="r" b="b" t="t" l="l"/>
            <a:pathLst>
              <a:path h="1092418" w="1092418">
                <a:moveTo>
                  <a:pt x="0" y="0"/>
                </a:moveTo>
                <a:lnTo>
                  <a:pt x="1092418" y="0"/>
                </a:lnTo>
                <a:lnTo>
                  <a:pt x="1092418" y="1092418"/>
                </a:lnTo>
                <a:lnTo>
                  <a:pt x="0" y="1092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36617" y="4466741"/>
            <a:ext cx="1061226" cy="1126784"/>
          </a:xfrm>
          <a:custGeom>
            <a:avLst/>
            <a:gdLst/>
            <a:ahLst/>
            <a:cxnLst/>
            <a:rect r="r" b="b" t="t" l="l"/>
            <a:pathLst>
              <a:path h="1126784" w="1061226">
                <a:moveTo>
                  <a:pt x="0" y="0"/>
                </a:moveTo>
                <a:lnTo>
                  <a:pt x="1061226" y="0"/>
                </a:lnTo>
                <a:lnTo>
                  <a:pt x="1061226" y="1126784"/>
                </a:lnTo>
                <a:lnTo>
                  <a:pt x="0" y="11267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80253" y="5826617"/>
            <a:ext cx="1621563" cy="41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0"/>
              </a:lnSpc>
              <a:spcBef>
                <a:spcPct val="0"/>
              </a:spcBef>
            </a:pPr>
            <a:r>
              <a:rPr lang="en-US" b="true" sz="2438">
                <a:solidFill>
                  <a:srgbClr val="FFF9F3"/>
                </a:solidFill>
                <a:latin typeface="Poppins Bold"/>
                <a:ea typeface="Poppins Bold"/>
                <a:cs typeface="Poppins Bold"/>
                <a:sym typeface="Poppins Bold"/>
              </a:rPr>
              <a:t>Existant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47604" y="6712025"/>
            <a:ext cx="3086861" cy="145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1900" i="true">
                <a:solidFill>
                  <a:srgbClr val="FFF9F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application Access (écran principal “tout-en-un”, ergonomie limitée)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61536" y="1812138"/>
            <a:ext cx="15415130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0"/>
              </a:lnSpc>
            </a:pP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</a:t>
            </a: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ntexte &amp; objectif du TP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70768" y="5826617"/>
            <a:ext cx="1095488" cy="41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0"/>
              </a:lnSpc>
              <a:spcBef>
                <a:spcPct val="0"/>
              </a:spcBef>
            </a:pPr>
            <a:r>
              <a:rPr lang="en-US" b="true" sz="2438">
                <a:solidFill>
                  <a:srgbClr val="FFF9F3"/>
                </a:solidFill>
                <a:latin typeface="Poppins Bold"/>
                <a:ea typeface="Poppins Bold"/>
                <a:cs typeface="Poppins Bold"/>
                <a:sym typeface="Poppins Bold"/>
              </a:rPr>
              <a:t>Besoin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75081" y="6673925"/>
            <a:ext cx="308686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1900" i="true">
                <a:solidFill>
                  <a:srgbClr val="FFF9F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refonte en appli in</a:t>
            </a:r>
            <a:r>
              <a:rPr lang="en-US" sz="1900" i="true">
                <a:solidFill>
                  <a:srgbClr val="FFF9F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tranet (client léger)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86368" y="5826617"/>
            <a:ext cx="1755050" cy="41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0"/>
              </a:lnSpc>
              <a:spcBef>
                <a:spcPct val="0"/>
              </a:spcBef>
            </a:pPr>
            <a:r>
              <a:rPr lang="en-US" b="true" sz="2438">
                <a:solidFill>
                  <a:srgbClr val="FFF9F3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TP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19618" y="6713930"/>
            <a:ext cx="308686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1900" i="true">
                <a:solidFill>
                  <a:srgbClr val="FFF9F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analyser + modéliser le processus colis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56969" y="6713930"/>
            <a:ext cx="3086861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1900" i="true">
                <a:solidFill>
                  <a:srgbClr val="FFF9F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acteurs, archi, UC, scénario, activité, séquence, classes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11286" y="5871955"/>
            <a:ext cx="1511888" cy="41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0"/>
              </a:lnSpc>
              <a:spcBef>
                <a:spcPct val="0"/>
              </a:spcBef>
            </a:pPr>
            <a:r>
              <a:rPr lang="en-US" b="true" sz="2438">
                <a:solidFill>
                  <a:srgbClr val="FFF9F3"/>
                </a:solidFill>
                <a:latin typeface="Poppins Bold"/>
                <a:ea typeface="Poppins Bold"/>
                <a:cs typeface="Poppins Bold"/>
                <a:sym typeface="Poppins Bold"/>
              </a:rPr>
              <a:t>Livrables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56151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23414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23414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4137">
            <a:off x="-201185" y="430898"/>
            <a:ext cx="17231850" cy="1458787"/>
            <a:chOff x="0" y="0"/>
            <a:chExt cx="2055744" cy="174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5744" cy="174032"/>
            </a:xfrm>
            <a:custGeom>
              <a:avLst/>
              <a:gdLst/>
              <a:ahLst/>
              <a:cxnLst/>
              <a:rect r="r" b="b" t="t" l="l"/>
              <a:pathLst>
                <a:path h="174032" w="2055744">
                  <a:moveTo>
                    <a:pt x="6669" y="0"/>
                  </a:moveTo>
                  <a:lnTo>
                    <a:pt x="2049075" y="0"/>
                  </a:lnTo>
                  <a:cubicBezTo>
                    <a:pt x="2050844" y="0"/>
                    <a:pt x="2052540" y="703"/>
                    <a:pt x="2053791" y="1953"/>
                  </a:cubicBezTo>
                  <a:cubicBezTo>
                    <a:pt x="2055041" y="3204"/>
                    <a:pt x="2055744" y="4900"/>
                    <a:pt x="2055744" y="6669"/>
                  </a:cubicBezTo>
                  <a:lnTo>
                    <a:pt x="2055744" y="167363"/>
                  </a:lnTo>
                  <a:cubicBezTo>
                    <a:pt x="2055744" y="171046"/>
                    <a:pt x="2052758" y="174032"/>
                    <a:pt x="2049075" y="174032"/>
                  </a:cubicBezTo>
                  <a:lnTo>
                    <a:pt x="6669" y="174032"/>
                  </a:lnTo>
                  <a:cubicBezTo>
                    <a:pt x="2986" y="174032"/>
                    <a:pt x="0" y="171046"/>
                    <a:pt x="0" y="167363"/>
                  </a:cubicBezTo>
                  <a:lnTo>
                    <a:pt x="0" y="6669"/>
                  </a:lnTo>
                  <a:cubicBezTo>
                    <a:pt x="0" y="2986"/>
                    <a:pt x="2986" y="0"/>
                    <a:pt x="6669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055744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8580" y="3285350"/>
            <a:ext cx="1770558" cy="177055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DFCF">
                <a:alpha val="6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07358" y="3502688"/>
            <a:ext cx="1748508" cy="17485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DFCF">
                <a:alpha val="6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6983768" y="9225255"/>
            <a:ext cx="100931" cy="1484865"/>
            <a:chOff x="0" y="0"/>
            <a:chExt cx="64165" cy="9439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15" id="15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996794" y="3377471"/>
            <a:ext cx="1029246" cy="1029246"/>
          </a:xfrm>
          <a:custGeom>
            <a:avLst/>
            <a:gdLst/>
            <a:ahLst/>
            <a:cxnLst/>
            <a:rect r="r" b="b" t="t" l="l"/>
            <a:pathLst>
              <a:path h="1029246" w="1029246">
                <a:moveTo>
                  <a:pt x="0" y="0"/>
                </a:moveTo>
                <a:lnTo>
                  <a:pt x="1029246" y="0"/>
                </a:lnTo>
                <a:lnTo>
                  <a:pt x="1029246" y="1029246"/>
                </a:lnTo>
                <a:lnTo>
                  <a:pt x="0" y="1029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3504" y="3167710"/>
            <a:ext cx="1444906" cy="1239007"/>
          </a:xfrm>
          <a:custGeom>
            <a:avLst/>
            <a:gdLst/>
            <a:ahLst/>
            <a:cxnLst/>
            <a:rect r="r" b="b" t="t" l="l"/>
            <a:pathLst>
              <a:path h="1239007" w="1444906">
                <a:moveTo>
                  <a:pt x="0" y="0"/>
                </a:moveTo>
                <a:lnTo>
                  <a:pt x="1444906" y="0"/>
                </a:lnTo>
                <a:lnTo>
                  <a:pt x="1444906" y="1239007"/>
                </a:lnTo>
                <a:lnTo>
                  <a:pt x="0" y="1239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55660" y="760091"/>
            <a:ext cx="15263411" cy="139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42" i="true" b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Acteu</a:t>
            </a:r>
            <a:r>
              <a:rPr lang="en-US" b="true" sz="5442" i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rs &amp; rôles : Acteurs principaux (internes)</a:t>
            </a:r>
          </a:p>
          <a:p>
            <a:pPr algn="l" marL="0" indent="0" lvl="0">
              <a:lnSpc>
                <a:spcPts val="533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548847" y="4044356"/>
            <a:ext cx="5181096" cy="153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012" b="true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Opérateur colis (rôle métier principal)</a:t>
            </a:r>
          </a:p>
          <a:p>
            <a:pPr algn="l">
              <a:lnSpc>
                <a:spcPts val="2952"/>
              </a:lnSpc>
            </a:pPr>
          </a:p>
          <a:p>
            <a:pPr algn="l" marL="0" indent="0" lvl="0">
              <a:lnSpc>
                <a:spcPts val="295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81702" y="4979740"/>
            <a:ext cx="7767240" cy="309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577" indent="-162289" lvl="1">
              <a:lnSpc>
                <a:spcPts val="2104"/>
              </a:lnSpc>
              <a:buFont typeface="Arial"/>
              <a:buChar char="•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Mission : paramétrer l’application et les référentiels. </a:t>
            </a:r>
          </a:p>
          <a:p>
            <a:pPr algn="l" marL="324577" indent="-162289" lvl="1">
              <a:lnSpc>
                <a:spcPts val="2104"/>
              </a:lnSpc>
              <a:buFont typeface="Arial"/>
              <a:buChar char="•"/>
            </a:pP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Droits :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Gérer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utilisateurs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et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profils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(droits)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Gérer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référentiels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 objets, catégories, emplacements, enseignes (si utilisés)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Gérer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emballages 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règles de conditionnement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(min/max par objet ou groupe d’objets)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Gérer </a:t>
            </a:r>
            <a:r>
              <a:rPr lang="en-US" b="true" sz="150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tarifs postaux </a:t>
            </a: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(tranches de poids, prix)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Paramétrer modèles d’email, exports, impressions</a:t>
            </a:r>
          </a:p>
          <a:p>
            <a:pPr algn="l" marL="324577" indent="-162289" lvl="1">
              <a:lnSpc>
                <a:spcPts val="2104"/>
              </a:lnSpc>
              <a:buFont typeface="Arial"/>
              <a:buChar char="•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Responsabilités :</a:t>
            </a:r>
          </a:p>
          <a:p>
            <a:pPr algn="l" marL="649154" indent="-216385" lvl="2">
              <a:lnSpc>
                <a:spcPts val="2104"/>
              </a:lnSpc>
              <a:buFont typeface="Arial"/>
              <a:buChar char="⚬"/>
            </a:pPr>
            <a:r>
              <a:rPr lang="en-US" sz="150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Maintenir à jour les règles métier (conditionnement / affranchissement)</a:t>
            </a:r>
          </a:p>
          <a:p>
            <a:pPr algn="l">
              <a:lnSpc>
                <a:spcPts val="210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026040" y="4104897"/>
            <a:ext cx="4736877" cy="42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9"/>
              </a:lnSpc>
            </a:pPr>
            <a:r>
              <a:rPr lang="en-US" b="true" sz="3009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Opérateur stock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99944" y="4598753"/>
            <a:ext cx="5423647" cy="347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Mission </a:t>
            </a: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:gérer</a:t>
            </a: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les stocks d’objets/goodies et disponibilités.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Droits </a:t>
            </a: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Consulter catalogue objets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Consulter / mettre à jour stock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Réaliser inventaire / ajustements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Consulter commandes (lecture) pour anticiper la préparation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Responsabilités 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Garantir la disponibilité des objets et la fiabilité des quantités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56151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23414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23414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5002369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-74137">
            <a:off x="-201185" y="299307"/>
            <a:ext cx="17231850" cy="1458787"/>
            <a:chOff x="0" y="0"/>
            <a:chExt cx="2055744" cy="174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5744" cy="174032"/>
            </a:xfrm>
            <a:custGeom>
              <a:avLst/>
              <a:gdLst/>
              <a:ahLst/>
              <a:cxnLst/>
              <a:rect r="r" b="b" t="t" l="l"/>
              <a:pathLst>
                <a:path h="174032" w="2055744">
                  <a:moveTo>
                    <a:pt x="6669" y="0"/>
                  </a:moveTo>
                  <a:lnTo>
                    <a:pt x="2049075" y="0"/>
                  </a:lnTo>
                  <a:cubicBezTo>
                    <a:pt x="2050844" y="0"/>
                    <a:pt x="2052540" y="703"/>
                    <a:pt x="2053791" y="1953"/>
                  </a:cubicBezTo>
                  <a:cubicBezTo>
                    <a:pt x="2055041" y="3204"/>
                    <a:pt x="2055744" y="4900"/>
                    <a:pt x="2055744" y="6669"/>
                  </a:cubicBezTo>
                  <a:lnTo>
                    <a:pt x="2055744" y="167363"/>
                  </a:lnTo>
                  <a:cubicBezTo>
                    <a:pt x="2055744" y="171046"/>
                    <a:pt x="2052758" y="174032"/>
                    <a:pt x="2049075" y="174032"/>
                  </a:cubicBezTo>
                  <a:lnTo>
                    <a:pt x="6669" y="174032"/>
                  </a:lnTo>
                  <a:cubicBezTo>
                    <a:pt x="2986" y="174032"/>
                    <a:pt x="0" y="171046"/>
                    <a:pt x="0" y="167363"/>
                  </a:cubicBezTo>
                  <a:lnTo>
                    <a:pt x="0" y="6669"/>
                  </a:lnTo>
                  <a:cubicBezTo>
                    <a:pt x="0" y="2986"/>
                    <a:pt x="2986" y="0"/>
                    <a:pt x="6669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055744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12170" y="5041594"/>
            <a:ext cx="7189446" cy="310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432" indent="-150216" lvl="1">
              <a:lnSpc>
                <a:spcPts val="1948"/>
              </a:lnSpc>
              <a:buFont typeface="Arial"/>
              <a:buChar char="•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Mission : paramétrer l’application et les référentiels. </a:t>
            </a:r>
          </a:p>
          <a:p>
            <a:pPr algn="l" marL="300432" indent="-150216" lvl="1">
              <a:lnSpc>
                <a:spcPts val="1948"/>
              </a:lnSpc>
              <a:buFont typeface="Arial"/>
              <a:buChar char="•"/>
            </a:pP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Droits :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Gérer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utilisateurs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et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profils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(droits)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Gérer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référentiels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 objets, catégories, emplacements, enseignes (si utilisés)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Gérer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emballages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règles de conditionnement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(min/max par objet ou groupe d’objets)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Gérer </a:t>
            </a: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tarifs postaux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(tranches de poids, prix)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Paramétrer modèles d’email, exports, impressions</a:t>
            </a:r>
          </a:p>
          <a:p>
            <a:pPr algn="l">
              <a:lnSpc>
                <a:spcPts val="1948"/>
              </a:lnSpc>
            </a:pPr>
          </a:p>
          <a:p>
            <a:pPr algn="l" marL="300432" indent="-150216" lvl="1">
              <a:lnSpc>
                <a:spcPts val="1948"/>
              </a:lnSpc>
              <a:buFont typeface="Arial"/>
              <a:buChar char="•"/>
            </a:pP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Responsabilités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Maintenir à jour les règles métier (conditionnement / affranchissement)</a:t>
            </a:r>
          </a:p>
          <a:p>
            <a:pPr algn="l">
              <a:lnSpc>
                <a:spcPts val="1948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799954" y="3489570"/>
            <a:ext cx="1624431" cy="16244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DFCF">
                <a:alpha val="6078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6749972" y="9225255"/>
            <a:ext cx="100931" cy="1484865"/>
            <a:chOff x="0" y="0"/>
            <a:chExt cx="64165" cy="943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432670" y="3122286"/>
            <a:ext cx="1179500" cy="1179500"/>
          </a:xfrm>
          <a:custGeom>
            <a:avLst/>
            <a:gdLst/>
            <a:ahLst/>
            <a:cxnLst/>
            <a:rect r="r" b="b" t="t" l="l"/>
            <a:pathLst>
              <a:path h="1179500" w="1179500">
                <a:moveTo>
                  <a:pt x="0" y="0"/>
                </a:moveTo>
                <a:lnTo>
                  <a:pt x="1179500" y="0"/>
                </a:lnTo>
                <a:lnTo>
                  <a:pt x="1179500" y="1179500"/>
                </a:lnTo>
                <a:lnTo>
                  <a:pt x="0" y="117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55660" y="760091"/>
            <a:ext cx="15263411" cy="139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42" i="true" b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Acteu</a:t>
            </a:r>
            <a:r>
              <a:rPr lang="en-US" b="true" sz="5442" i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rs &amp; rôles : Acteurs principaux (internes)</a:t>
            </a:r>
          </a:p>
          <a:p>
            <a:pPr algn="l" marL="0" indent="0" lvl="0">
              <a:lnSpc>
                <a:spcPts val="533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612170" y="4176794"/>
            <a:ext cx="5965874" cy="10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2763" b="true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Administrateur (administration fonctionnelle)</a:t>
            </a:r>
          </a:p>
          <a:p>
            <a:pPr algn="l" marL="0" indent="0" lvl="0">
              <a:lnSpc>
                <a:spcPts val="2708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822355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89617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89617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4137">
            <a:off x="-192787" y="299216"/>
            <a:ext cx="17231850" cy="2237671"/>
            <a:chOff x="0" y="0"/>
            <a:chExt cx="2055744" cy="266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5744" cy="266952"/>
            </a:xfrm>
            <a:custGeom>
              <a:avLst/>
              <a:gdLst/>
              <a:ahLst/>
              <a:cxnLst/>
              <a:rect r="r" b="b" t="t" l="l"/>
              <a:pathLst>
                <a:path h="266952" w="2055744">
                  <a:moveTo>
                    <a:pt x="6669" y="0"/>
                  </a:moveTo>
                  <a:lnTo>
                    <a:pt x="2049075" y="0"/>
                  </a:lnTo>
                  <a:cubicBezTo>
                    <a:pt x="2050844" y="0"/>
                    <a:pt x="2052540" y="703"/>
                    <a:pt x="2053791" y="1953"/>
                  </a:cubicBezTo>
                  <a:cubicBezTo>
                    <a:pt x="2055041" y="3204"/>
                    <a:pt x="2055744" y="4900"/>
                    <a:pt x="2055744" y="6669"/>
                  </a:cubicBezTo>
                  <a:lnTo>
                    <a:pt x="2055744" y="260283"/>
                  </a:lnTo>
                  <a:cubicBezTo>
                    <a:pt x="2055744" y="263966"/>
                    <a:pt x="2052758" y="266952"/>
                    <a:pt x="2049075" y="266952"/>
                  </a:cubicBezTo>
                  <a:lnTo>
                    <a:pt x="6669" y="266952"/>
                  </a:lnTo>
                  <a:cubicBezTo>
                    <a:pt x="2986" y="266952"/>
                    <a:pt x="0" y="263966"/>
                    <a:pt x="0" y="260283"/>
                  </a:cubicBezTo>
                  <a:lnTo>
                    <a:pt x="0" y="6669"/>
                  </a:lnTo>
                  <a:cubicBezTo>
                    <a:pt x="0" y="2986"/>
                    <a:pt x="2986" y="0"/>
                    <a:pt x="6669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055744" cy="24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03558" y="4473947"/>
            <a:ext cx="1631156" cy="16311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DFCF">
                <a:alpha val="6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60192" y="5913300"/>
            <a:ext cx="7189446" cy="120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432" indent="-150216" lvl="1">
              <a:lnSpc>
                <a:spcPts val="1948"/>
              </a:lnSpc>
              <a:buFont typeface="Arial"/>
              <a:buChar char="•"/>
            </a:pP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Rôle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déclenche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’ex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d’une commande. </a:t>
            </a:r>
          </a:p>
          <a:p>
            <a:pPr algn="l" marL="300432" indent="-150216" lvl="1">
              <a:lnSpc>
                <a:spcPts val="1948"/>
              </a:lnSpc>
              <a:buFont typeface="Arial"/>
              <a:buChar char="•"/>
            </a:pPr>
            <a:r>
              <a:rPr lang="en-US" b="true" sz="1391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Interactions 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</a:t>
            </a:r>
          </a:p>
          <a:p>
            <a:pPr algn="l" marL="600865" indent="-200288" lvl="2">
              <a:lnSpc>
                <a:spcPts val="1948"/>
              </a:lnSpc>
              <a:buFont typeface="Arial"/>
              <a:buChar char="⚬"/>
            </a:pP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indirectes (s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ais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ie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pa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 opérateur), réception d’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ail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</a:t>
            </a:r>
            <a:r>
              <a:rPr lang="en-US" sz="1391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uivi.</a:t>
            </a:r>
          </a:p>
          <a:p>
            <a:pPr algn="l">
              <a:lnSpc>
                <a:spcPts val="1948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47977" y="4361276"/>
            <a:ext cx="1624431" cy="16244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DFCF">
                <a:alpha val="6078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6983768" y="9225255"/>
            <a:ext cx="100931" cy="1484865"/>
            <a:chOff x="0" y="0"/>
            <a:chExt cx="64165" cy="943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18453" y="4003925"/>
            <a:ext cx="1169566" cy="1169566"/>
          </a:xfrm>
          <a:custGeom>
            <a:avLst/>
            <a:gdLst/>
            <a:ahLst/>
            <a:cxnLst/>
            <a:rect r="r" b="b" t="t" l="l"/>
            <a:pathLst>
              <a:path h="1169566" w="1169566">
                <a:moveTo>
                  <a:pt x="0" y="0"/>
                </a:moveTo>
                <a:lnTo>
                  <a:pt x="1169566" y="0"/>
                </a:lnTo>
                <a:lnTo>
                  <a:pt x="1169566" y="1169567"/>
                </a:lnTo>
                <a:lnTo>
                  <a:pt x="0" y="1169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58484" y="4228873"/>
            <a:ext cx="1060652" cy="1060652"/>
          </a:xfrm>
          <a:custGeom>
            <a:avLst/>
            <a:gdLst/>
            <a:ahLst/>
            <a:cxnLst/>
            <a:rect r="r" b="b" t="t" l="l"/>
            <a:pathLst>
              <a:path h="1060652" w="1060652">
                <a:moveTo>
                  <a:pt x="0" y="0"/>
                </a:moveTo>
                <a:lnTo>
                  <a:pt x="1060652" y="0"/>
                </a:lnTo>
                <a:lnTo>
                  <a:pt x="1060652" y="1060653"/>
                </a:lnTo>
                <a:lnTo>
                  <a:pt x="0" y="1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1432" y="863255"/>
            <a:ext cx="15263411" cy="274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42" i="true" b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Acteu</a:t>
            </a:r>
            <a:r>
              <a:rPr lang="en-US" b="true" sz="5442" i="true">
                <a:solidFill>
                  <a:srgbClr val="31394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rs &amp; rôles : Acteurs externes (hors SI, mais influencent le flux)</a:t>
            </a:r>
          </a:p>
          <a:p>
            <a:pPr algn="l">
              <a:lnSpc>
                <a:spcPts val="5334"/>
              </a:lnSpc>
            </a:pPr>
          </a:p>
          <a:p>
            <a:pPr algn="l" marL="0" indent="0" lvl="0">
              <a:lnSpc>
                <a:spcPts val="533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419136" y="6057479"/>
            <a:ext cx="5755598" cy="149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499" indent="-150750" lvl="1">
              <a:lnSpc>
                <a:spcPts val="1955"/>
              </a:lnSpc>
              <a:buFont typeface="Arial"/>
              <a:buChar char="•"/>
            </a:pPr>
            <a:r>
              <a:rPr lang="en-US" b="true" sz="13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Rôle </a:t>
            </a: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602999" indent="-201000" lvl="2">
              <a:lnSpc>
                <a:spcPts val="1955"/>
              </a:lnSpc>
              <a:buFont typeface="Arial"/>
              <a:buChar char="⚬"/>
            </a:pP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fournit</a:t>
            </a: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les règles de prix (tarifs) et le suivi “Lettre suivie”. </a:t>
            </a:r>
          </a:p>
          <a:p>
            <a:pPr algn="l" marL="301499" indent="-150750" lvl="1">
              <a:lnSpc>
                <a:spcPts val="1955"/>
              </a:lnSpc>
              <a:buFont typeface="Arial"/>
              <a:buChar char="•"/>
            </a:pPr>
            <a:r>
              <a:rPr lang="en-US" b="true" sz="13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Interactions </a:t>
            </a: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602999" indent="-201000" lvl="2">
              <a:lnSpc>
                <a:spcPts val="1955"/>
              </a:lnSpc>
              <a:buFont typeface="Arial"/>
              <a:buChar char="⚬"/>
            </a:pP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Consultation des tranches de poids et tarifs (paramétrés ou synchronisés)</a:t>
            </a:r>
          </a:p>
          <a:p>
            <a:pPr algn="l" marL="602999" indent="-201000" lvl="2">
              <a:lnSpc>
                <a:spcPts val="1955"/>
              </a:lnSpc>
              <a:buFont typeface="Arial"/>
              <a:buChar char="⚬"/>
            </a:pPr>
            <a:r>
              <a:rPr lang="en-US" sz="13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Enregistrement / utilisation d’un **numéro de suivi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19136" y="5163898"/>
            <a:ext cx="5840164" cy="73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775" b="true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La Poste / Service d’expédition</a:t>
            </a:r>
          </a:p>
          <a:p>
            <a:pPr algn="l" marL="0" indent="0" lvl="0">
              <a:lnSpc>
                <a:spcPts val="271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60192" y="5048499"/>
            <a:ext cx="5965874" cy="10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2763" b="true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final (expéditeur du chèque / points / choix cadeaux)</a:t>
            </a:r>
          </a:p>
          <a:p>
            <a:pPr algn="l" marL="0" indent="0" lvl="0">
              <a:lnSpc>
                <a:spcPts val="270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56151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23414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23414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1700879"/>
            <a:ext cx="14462414" cy="7305721"/>
            <a:chOff x="0" y="0"/>
            <a:chExt cx="3809031" cy="1924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09031" cy="1924140"/>
            </a:xfrm>
            <a:custGeom>
              <a:avLst/>
              <a:gdLst/>
              <a:ahLst/>
              <a:cxnLst/>
              <a:rect r="r" b="b" t="t" l="l"/>
              <a:pathLst>
                <a:path h="1924140" w="3809031">
                  <a:moveTo>
                    <a:pt x="0" y="0"/>
                  </a:moveTo>
                  <a:lnTo>
                    <a:pt x="3809031" y="0"/>
                  </a:lnTo>
                  <a:lnTo>
                    <a:pt x="3809031" y="1924140"/>
                  </a:lnTo>
                  <a:lnTo>
                    <a:pt x="0" y="1924140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809031" cy="2019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073553"/>
            <a:ext cx="18216562" cy="5622193"/>
            <a:chOff x="0" y="0"/>
            <a:chExt cx="4797778" cy="1480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1480742"/>
            </a:xfrm>
            <a:custGeom>
              <a:avLst/>
              <a:gdLst/>
              <a:ahLst/>
              <a:cxnLst/>
              <a:rect r="r" b="b" t="t" l="l"/>
              <a:pathLst>
                <a:path h="1480742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1480742"/>
                  </a:lnTo>
                  <a:lnTo>
                    <a:pt x="0" y="1480742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1575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711936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10637168">
            <a:off x="-5638619" y="500867"/>
            <a:ext cx="16551032" cy="1458787"/>
            <a:chOff x="0" y="0"/>
            <a:chExt cx="1974523" cy="1740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4523" cy="174032"/>
            </a:xfrm>
            <a:custGeom>
              <a:avLst/>
              <a:gdLst/>
              <a:ahLst/>
              <a:cxnLst/>
              <a:rect r="r" b="b" t="t" l="l"/>
              <a:pathLst>
                <a:path h="174032" w="1974523">
                  <a:moveTo>
                    <a:pt x="6943" y="0"/>
                  </a:moveTo>
                  <a:lnTo>
                    <a:pt x="1967580" y="0"/>
                  </a:lnTo>
                  <a:cubicBezTo>
                    <a:pt x="1971415" y="0"/>
                    <a:pt x="1974523" y="3109"/>
                    <a:pt x="1974523" y="6943"/>
                  </a:cubicBezTo>
                  <a:lnTo>
                    <a:pt x="1974523" y="167089"/>
                  </a:lnTo>
                  <a:cubicBezTo>
                    <a:pt x="1974523" y="170923"/>
                    <a:pt x="1971415" y="174032"/>
                    <a:pt x="1967580" y="174032"/>
                  </a:cubicBezTo>
                  <a:lnTo>
                    <a:pt x="6943" y="174032"/>
                  </a:lnTo>
                  <a:cubicBezTo>
                    <a:pt x="3109" y="174032"/>
                    <a:pt x="0" y="170923"/>
                    <a:pt x="0" y="167089"/>
                  </a:cubicBezTo>
                  <a:lnTo>
                    <a:pt x="0" y="6943"/>
                  </a:lnTo>
                  <a:cubicBezTo>
                    <a:pt x="0" y="3109"/>
                    <a:pt x="3109" y="0"/>
                    <a:pt x="6943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974523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6739344" y="9225255"/>
            <a:ext cx="100931" cy="1484865"/>
            <a:chOff x="0" y="0"/>
            <a:chExt cx="64165" cy="9439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09502" y="2170448"/>
            <a:ext cx="12678440" cy="7797240"/>
          </a:xfrm>
          <a:custGeom>
            <a:avLst/>
            <a:gdLst/>
            <a:ahLst/>
            <a:cxnLst/>
            <a:rect r="r" b="b" t="t" l="l"/>
            <a:pathLst>
              <a:path h="7797240" w="12678440">
                <a:moveTo>
                  <a:pt x="0" y="0"/>
                </a:moveTo>
                <a:lnTo>
                  <a:pt x="12678439" y="0"/>
                </a:lnTo>
                <a:lnTo>
                  <a:pt x="12678439" y="7797240"/>
                </a:lnTo>
                <a:lnTo>
                  <a:pt x="0" y="7797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4445" y="880808"/>
            <a:ext cx="9921095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rchitecture cible (schéma)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11727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78990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78990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23" id="23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366102" y="6188518"/>
            <a:ext cx="605075" cy="60507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366102" y="7189042"/>
            <a:ext cx="605075" cy="60507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366102" y="8194829"/>
            <a:ext cx="605075" cy="60507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071640" y="6353851"/>
            <a:ext cx="2438363" cy="2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b="true" sz="1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opérateur colis / stock / admin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80772" y="7156307"/>
            <a:ext cx="2587166" cy="59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  <a:spcBef>
                <a:spcPct val="0"/>
              </a:spcBef>
            </a:pPr>
            <a:r>
              <a:rPr lang="en-US" b="true" sz="11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flu</a:t>
            </a:r>
            <a:r>
              <a:rPr lang="en-US" b="true" sz="11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 colis : conditionnement → affranchissement → suivi → historique.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080772" y="8210041"/>
            <a:ext cx="2655175" cy="59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  <a:spcBef>
                <a:spcPct val="0"/>
              </a:spcBef>
            </a:pPr>
            <a:r>
              <a:rPr lang="en-US" b="true" sz="11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Pos</a:t>
            </a:r>
            <a:r>
              <a:rPr lang="en-US" b="true" sz="11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 est externe et sert uniquement au suivi “Lettre suivie”.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08201" y="5261535"/>
            <a:ext cx="2106476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Message clé 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1359824"/>
            <a:ext cx="12006263" cy="7567352"/>
            <a:chOff x="0" y="0"/>
            <a:chExt cx="3162143" cy="1993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2143" cy="1993048"/>
            </a:xfrm>
            <a:custGeom>
              <a:avLst/>
              <a:gdLst/>
              <a:ahLst/>
              <a:cxnLst/>
              <a:rect r="r" b="b" t="t" l="l"/>
              <a:pathLst>
                <a:path h="1993048" w="3162143">
                  <a:moveTo>
                    <a:pt x="0" y="0"/>
                  </a:moveTo>
                  <a:lnTo>
                    <a:pt x="3162143" y="0"/>
                  </a:lnTo>
                  <a:lnTo>
                    <a:pt x="3162143" y="1993048"/>
                  </a:lnTo>
                  <a:lnTo>
                    <a:pt x="0" y="1993048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162143" cy="2088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073553"/>
            <a:ext cx="18216562" cy="5622193"/>
            <a:chOff x="0" y="0"/>
            <a:chExt cx="4797778" cy="1480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1480742"/>
            </a:xfrm>
            <a:custGeom>
              <a:avLst/>
              <a:gdLst/>
              <a:ahLst/>
              <a:cxnLst/>
              <a:rect r="r" b="b" t="t" l="l"/>
              <a:pathLst>
                <a:path h="1480742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1480742"/>
                  </a:lnTo>
                  <a:lnTo>
                    <a:pt x="0" y="1480742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1575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711936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480242" y="6188518"/>
            <a:ext cx="605075" cy="605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0637168">
            <a:off x="-5649444" y="101162"/>
            <a:ext cx="16551032" cy="1458787"/>
            <a:chOff x="0" y="0"/>
            <a:chExt cx="1974523" cy="174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4523" cy="174032"/>
            </a:xfrm>
            <a:custGeom>
              <a:avLst/>
              <a:gdLst/>
              <a:ahLst/>
              <a:cxnLst/>
              <a:rect r="r" b="b" t="t" l="l"/>
              <a:pathLst>
                <a:path h="174032" w="1974523">
                  <a:moveTo>
                    <a:pt x="6943" y="0"/>
                  </a:moveTo>
                  <a:lnTo>
                    <a:pt x="1967580" y="0"/>
                  </a:lnTo>
                  <a:cubicBezTo>
                    <a:pt x="1971415" y="0"/>
                    <a:pt x="1974523" y="3109"/>
                    <a:pt x="1974523" y="6943"/>
                  </a:cubicBezTo>
                  <a:lnTo>
                    <a:pt x="1974523" y="167089"/>
                  </a:lnTo>
                  <a:cubicBezTo>
                    <a:pt x="1974523" y="170923"/>
                    <a:pt x="1971415" y="174032"/>
                    <a:pt x="1967580" y="174032"/>
                  </a:cubicBezTo>
                  <a:lnTo>
                    <a:pt x="6943" y="174032"/>
                  </a:lnTo>
                  <a:cubicBezTo>
                    <a:pt x="3109" y="174032"/>
                    <a:pt x="0" y="170923"/>
                    <a:pt x="0" y="167089"/>
                  </a:cubicBezTo>
                  <a:lnTo>
                    <a:pt x="0" y="6943"/>
                  </a:lnTo>
                  <a:cubicBezTo>
                    <a:pt x="0" y="3109"/>
                    <a:pt x="3109" y="0"/>
                    <a:pt x="6943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1974523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80242" y="7189042"/>
            <a:ext cx="605075" cy="6050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80242" y="8194829"/>
            <a:ext cx="605075" cy="6050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025815" y="1081182"/>
            <a:ext cx="6419982" cy="8992413"/>
          </a:xfrm>
          <a:custGeom>
            <a:avLst/>
            <a:gdLst/>
            <a:ahLst/>
            <a:cxnLst/>
            <a:rect r="r" b="b" t="t" l="l"/>
            <a:pathLst>
              <a:path h="8992413" w="6419982">
                <a:moveTo>
                  <a:pt x="0" y="0"/>
                </a:moveTo>
                <a:lnTo>
                  <a:pt x="6419982" y="0"/>
                </a:lnTo>
                <a:lnTo>
                  <a:pt x="6419982" y="8992413"/>
                </a:lnTo>
                <a:lnTo>
                  <a:pt x="0" y="8992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33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6918" y="353703"/>
            <a:ext cx="9921095" cy="72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Us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Case (cas d’utilisation)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31279" y="6353851"/>
            <a:ext cx="2535044" cy="23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“Happy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path” opérateur colis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31279" y="7241119"/>
            <a:ext cx="4837011" cy="4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Distinction include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(poids) vs extend (scission/manuel/email)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88751" y="8331821"/>
            <a:ext cx="4408651" cy="4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Paramé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trage admin (emballages/tarifs/utilisateurs)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22341" y="5261535"/>
            <a:ext cx="2106476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Message clé  :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16489171" y="9225255"/>
            <a:ext cx="100931" cy="1484865"/>
            <a:chOff x="0" y="0"/>
            <a:chExt cx="64165" cy="9439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561554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28817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28817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36" id="36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43429" y="1848254"/>
            <a:ext cx="12006263" cy="7337730"/>
            <a:chOff x="0" y="0"/>
            <a:chExt cx="3162143" cy="19325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2143" cy="1932571"/>
            </a:xfrm>
            <a:custGeom>
              <a:avLst/>
              <a:gdLst/>
              <a:ahLst/>
              <a:cxnLst/>
              <a:rect r="r" b="b" t="t" l="l"/>
              <a:pathLst>
                <a:path h="1932571" w="3162143">
                  <a:moveTo>
                    <a:pt x="0" y="0"/>
                  </a:moveTo>
                  <a:lnTo>
                    <a:pt x="3162143" y="0"/>
                  </a:lnTo>
                  <a:lnTo>
                    <a:pt x="3162143" y="1932571"/>
                  </a:lnTo>
                  <a:lnTo>
                    <a:pt x="0" y="1932571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162143" cy="202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083753"/>
            <a:ext cx="18216562" cy="6611993"/>
            <a:chOff x="0" y="0"/>
            <a:chExt cx="4797778" cy="1741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1741430"/>
            </a:xfrm>
            <a:custGeom>
              <a:avLst/>
              <a:gdLst/>
              <a:ahLst/>
              <a:cxnLst/>
              <a:rect r="r" b="b" t="t" l="l"/>
              <a:pathLst>
                <a:path h="1741430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1741430"/>
                  </a:lnTo>
                  <a:lnTo>
                    <a:pt x="0" y="1741430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1836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653009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10637168">
            <a:off x="-5671569" y="162839"/>
            <a:ext cx="20712358" cy="1458787"/>
            <a:chOff x="0" y="0"/>
            <a:chExt cx="2470966" cy="1740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70966" cy="174032"/>
            </a:xfrm>
            <a:custGeom>
              <a:avLst/>
              <a:gdLst/>
              <a:ahLst/>
              <a:cxnLst/>
              <a:rect r="r" b="b" t="t" l="l"/>
              <a:pathLst>
                <a:path h="174032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168484"/>
                  </a:lnTo>
                  <a:cubicBezTo>
                    <a:pt x="2470966" y="169955"/>
                    <a:pt x="2470381" y="171366"/>
                    <a:pt x="2469341" y="172407"/>
                  </a:cubicBezTo>
                  <a:cubicBezTo>
                    <a:pt x="2468300" y="173447"/>
                    <a:pt x="2466889" y="174032"/>
                    <a:pt x="2465417" y="174032"/>
                  </a:cubicBezTo>
                  <a:lnTo>
                    <a:pt x="5548" y="174032"/>
                  </a:lnTo>
                  <a:cubicBezTo>
                    <a:pt x="4077" y="174032"/>
                    <a:pt x="2666" y="173447"/>
                    <a:pt x="1625" y="172407"/>
                  </a:cubicBezTo>
                  <a:cubicBezTo>
                    <a:pt x="585" y="171366"/>
                    <a:pt x="0" y="169955"/>
                    <a:pt x="0" y="168484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2470966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6918" y="549276"/>
            <a:ext cx="15007348" cy="72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Scénario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 “Gestion des colis” (synthèse)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2028379"/>
            <a:ext cx="5241222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scénario en plusieurs étapes :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9042" y="2897190"/>
            <a:ext cx="7358514" cy="1223632"/>
            <a:chOff x="0" y="0"/>
            <a:chExt cx="9811353" cy="163151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-3202534">
              <a:off x="1425529" y="383073"/>
              <a:ext cx="425096" cy="1270668"/>
            </a:xfrm>
            <a:custGeom>
              <a:avLst/>
              <a:gdLst/>
              <a:ahLst/>
              <a:cxnLst/>
              <a:rect r="r" b="b" t="t" l="l"/>
              <a:pathLst>
                <a:path h="1270668" w="425096">
                  <a:moveTo>
                    <a:pt x="0" y="0"/>
                  </a:moveTo>
                  <a:lnTo>
                    <a:pt x="425096" y="0"/>
                  </a:lnTo>
                  <a:lnTo>
                    <a:pt x="425096" y="1270668"/>
                  </a:lnTo>
                  <a:lnTo>
                    <a:pt x="0" y="1270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01382" y="235237"/>
              <a:ext cx="3463230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 + rechercher/créer client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8087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445230" y="1275244"/>
              <a:ext cx="6366123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Si absent, il crée la fiche client (coordonnées, email, newsletter…).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2906188" y="693127"/>
              <a:ext cx="348541" cy="348541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906188" y="1282968"/>
              <a:ext cx="348541" cy="34854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445230" y="720741"/>
              <a:ext cx="5224611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L’opérateur cherche le client (nom/email/code client).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89042" y="4374572"/>
            <a:ext cx="8091238" cy="1142548"/>
            <a:chOff x="0" y="0"/>
            <a:chExt cx="10788318" cy="152339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001382" y="235237"/>
              <a:ext cx="6449349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Créer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commande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49172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2906188" y="889030"/>
              <a:ext cx="348541" cy="348541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384825" y="810211"/>
              <a:ext cx="7403493" cy="59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L’opérateur crée une commande liée au client (date, commentaires, statut initial “À préparer”).</a:t>
              </a:r>
            </a:p>
          </p:txBody>
        </p:sp>
        <p:sp>
          <p:nvSpPr>
            <p:cNvPr name="Freeform 41" id="41"/>
            <p:cNvSpPr/>
            <p:nvPr/>
          </p:nvSpPr>
          <p:spPr>
            <a:xfrm flipH="false" flipV="false" rot="-3202534">
              <a:off x="1546510" y="338461"/>
              <a:ext cx="425096" cy="1270668"/>
            </a:xfrm>
            <a:custGeom>
              <a:avLst/>
              <a:gdLst/>
              <a:ahLst/>
              <a:cxnLst/>
              <a:rect r="r" b="b" t="t" l="l"/>
              <a:pathLst>
                <a:path h="1270668" w="425096">
                  <a:moveTo>
                    <a:pt x="0" y="0"/>
                  </a:moveTo>
                  <a:lnTo>
                    <a:pt x="425096" y="0"/>
                  </a:lnTo>
                  <a:lnTo>
                    <a:pt x="425096" y="1270667"/>
                  </a:lnTo>
                  <a:lnTo>
                    <a:pt x="0" y="127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89042" y="5731368"/>
            <a:ext cx="6410293" cy="1122104"/>
            <a:chOff x="0" y="0"/>
            <a:chExt cx="8547058" cy="1496138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001382" y="206290"/>
              <a:ext cx="5878202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Ajou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ter les lignes de commande (objets)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66592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2906188" y="860083"/>
              <a:ext cx="348541" cy="348541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568013" y="887697"/>
              <a:ext cx="4979045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L’opérateur ajoute les objets/goodies et quantités.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-3202534">
              <a:off x="1425529" y="311202"/>
              <a:ext cx="425096" cy="1270668"/>
            </a:xfrm>
            <a:custGeom>
              <a:avLst/>
              <a:gdLst/>
              <a:ahLst/>
              <a:cxnLst/>
              <a:rect r="r" b="b" t="t" l="l"/>
              <a:pathLst>
                <a:path h="1270668" w="425096">
                  <a:moveTo>
                    <a:pt x="0" y="0"/>
                  </a:moveTo>
                  <a:lnTo>
                    <a:pt x="425096" y="0"/>
                  </a:lnTo>
                  <a:lnTo>
                    <a:pt x="425096" y="1270668"/>
                  </a:lnTo>
                  <a:lnTo>
                    <a:pt x="0" y="1270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9042" y="8980880"/>
            <a:ext cx="7281957" cy="1037274"/>
            <a:chOff x="0" y="0"/>
            <a:chExt cx="9709276" cy="1383031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001382" y="213305"/>
              <a:ext cx="6449349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Calculer le p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oids total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156155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  <p:grpSp>
          <p:nvGrpSpPr>
            <p:cNvPr name="Group 59" id="59"/>
            <p:cNvGrpSpPr/>
            <p:nvPr/>
          </p:nvGrpSpPr>
          <p:grpSpPr>
            <a:xfrm rot="0">
              <a:off x="2906188" y="790899"/>
              <a:ext cx="348541" cy="348541"/>
              <a:chOff x="0" y="0"/>
              <a:chExt cx="8128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3384825" y="818513"/>
              <a:ext cx="6324451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Poids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total = somme(poids objets * quantités) + poids emballage.</a:t>
              </a:r>
            </a:p>
          </p:txBody>
        </p:sp>
        <p:sp>
          <p:nvSpPr>
            <p:cNvPr name="Freeform 63" id="63"/>
            <p:cNvSpPr/>
            <p:nvPr/>
          </p:nvSpPr>
          <p:spPr>
            <a:xfrm flipH="false" flipV="false" rot="-3202534">
              <a:off x="1672480" y="373859"/>
              <a:ext cx="362041" cy="1082188"/>
            </a:xfrm>
            <a:custGeom>
              <a:avLst/>
              <a:gdLst/>
              <a:ahLst/>
              <a:cxnLst/>
              <a:rect r="r" b="b" t="t" l="l"/>
              <a:pathLst>
                <a:path h="1082188" w="362041">
                  <a:moveTo>
                    <a:pt x="0" y="0"/>
                  </a:moveTo>
                  <a:lnTo>
                    <a:pt x="362040" y="0"/>
                  </a:lnTo>
                  <a:lnTo>
                    <a:pt x="362040" y="1082187"/>
                  </a:lnTo>
                  <a:lnTo>
                    <a:pt x="0" y="108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89042" y="7239352"/>
            <a:ext cx="8081093" cy="1515183"/>
            <a:chOff x="0" y="0"/>
            <a:chExt cx="10774791" cy="2020244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952086" y="235237"/>
              <a:ext cx="3273971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Calculer le c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onditionnement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0" y="185070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  <p:grpSp>
          <p:nvGrpSpPr>
            <p:cNvPr name="Group 70" id="70"/>
            <p:cNvGrpSpPr/>
            <p:nvPr/>
          </p:nvGrpSpPr>
          <p:grpSpPr>
            <a:xfrm rot="0">
              <a:off x="2876711" y="766193"/>
              <a:ext cx="348541" cy="348541"/>
              <a:chOff x="0" y="0"/>
              <a:chExt cx="812800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3348035" y="655180"/>
              <a:ext cx="7426756" cy="59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Le système sélectionne un </a:t>
              </a:r>
              <a:r>
                <a:rPr lang="en-US" b="true" sz="12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emballage 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adapté, en respectant les</a:t>
              </a:r>
              <a:r>
                <a:rPr lang="en-US" b="true" sz="12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règles min/max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 (quantités/compatibilités).</a:t>
              </a:r>
            </a:p>
          </p:txBody>
        </p:sp>
        <p:sp>
          <p:nvSpPr>
            <p:cNvPr name="Freeform 74" id="74"/>
            <p:cNvSpPr/>
            <p:nvPr/>
          </p:nvSpPr>
          <p:spPr>
            <a:xfrm flipH="false" flipV="false" rot="-3202534">
              <a:off x="1546510" y="273835"/>
              <a:ext cx="425096" cy="1270668"/>
            </a:xfrm>
            <a:custGeom>
              <a:avLst/>
              <a:gdLst/>
              <a:ahLst/>
              <a:cxnLst/>
              <a:rect r="r" b="b" t="t" l="l"/>
              <a:pathLst>
                <a:path h="1270668" w="425096">
                  <a:moveTo>
                    <a:pt x="0" y="0"/>
                  </a:moveTo>
                  <a:lnTo>
                    <a:pt x="425096" y="0"/>
                  </a:lnTo>
                  <a:lnTo>
                    <a:pt x="425096" y="1270668"/>
                  </a:lnTo>
                  <a:lnTo>
                    <a:pt x="0" y="1270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5" id="75"/>
            <p:cNvGrpSpPr/>
            <p:nvPr/>
          </p:nvGrpSpPr>
          <p:grpSpPr>
            <a:xfrm rot="0">
              <a:off x="2876711" y="1539689"/>
              <a:ext cx="348541" cy="334455"/>
              <a:chOff x="0" y="0"/>
              <a:chExt cx="812800" cy="77995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812800" cy="779950"/>
              </a:xfrm>
              <a:custGeom>
                <a:avLst/>
                <a:gdLst/>
                <a:ahLst/>
                <a:cxnLst/>
                <a:rect r="r" b="b" t="t" l="l"/>
                <a:pathLst>
                  <a:path h="779950" w="812800">
                    <a:moveTo>
                      <a:pt x="406400" y="0"/>
                    </a:moveTo>
                    <a:cubicBezTo>
                      <a:pt x="181951" y="0"/>
                      <a:pt x="0" y="174598"/>
                      <a:pt x="0" y="389975"/>
                    </a:cubicBezTo>
                    <a:cubicBezTo>
                      <a:pt x="0" y="605352"/>
                      <a:pt x="181951" y="779950"/>
                      <a:pt x="406400" y="779950"/>
                    </a:cubicBezTo>
                    <a:cubicBezTo>
                      <a:pt x="630849" y="779950"/>
                      <a:pt x="812800" y="605352"/>
                      <a:pt x="812800" y="389975"/>
                    </a:cubicBezTo>
                    <a:cubicBezTo>
                      <a:pt x="812800" y="17459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76200" y="-22130"/>
                <a:ext cx="660400" cy="728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78" id="78"/>
            <p:cNvSpPr txBox="true"/>
            <p:nvPr/>
          </p:nvSpPr>
          <p:spPr>
            <a:xfrm rot="0">
              <a:off x="3348035" y="1421204"/>
              <a:ext cx="6777290" cy="59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Si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aucune solution n’est trouvée : alerte et proposition d’alternatives (changement emballage, scinder en plusieurs colis).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29553" y="5860659"/>
            <a:ext cx="7947114" cy="1684678"/>
            <a:chOff x="0" y="0"/>
            <a:chExt cx="10596152" cy="2246238"/>
          </a:xfrm>
        </p:grpSpPr>
        <p:grpSp>
          <p:nvGrpSpPr>
            <p:cNvPr name="Group 80" id="80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1001382" y="195356"/>
              <a:ext cx="5878202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Finalis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er l’expédition</a:t>
              </a:r>
            </a:p>
          </p:txBody>
        </p:sp>
        <p:grpSp>
          <p:nvGrpSpPr>
            <p:cNvPr name="Group 84" id="84"/>
            <p:cNvGrpSpPr/>
            <p:nvPr/>
          </p:nvGrpSpPr>
          <p:grpSpPr>
            <a:xfrm rot="0">
              <a:off x="2906188" y="656753"/>
              <a:ext cx="348541" cy="348541"/>
              <a:chOff x="0" y="0"/>
              <a:chExt cx="812800" cy="8128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87" id="87"/>
            <p:cNvSpPr txBox="true"/>
            <p:nvPr/>
          </p:nvSpPr>
          <p:spPr>
            <a:xfrm rot="0">
              <a:off x="3445230" y="684368"/>
              <a:ext cx="6085582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L’opérateur saisit ou associe le numéro de suivi (Lettre suivie).</a:t>
              </a:r>
            </a:p>
          </p:txBody>
        </p:sp>
        <p:sp>
          <p:nvSpPr>
            <p:cNvPr name="Freeform 88" id="88"/>
            <p:cNvSpPr/>
            <p:nvPr/>
          </p:nvSpPr>
          <p:spPr>
            <a:xfrm flipH="false" flipV="false" rot="-3202534">
              <a:off x="1456168" y="429991"/>
              <a:ext cx="340290" cy="1017172"/>
            </a:xfrm>
            <a:custGeom>
              <a:avLst/>
              <a:gdLst/>
              <a:ahLst/>
              <a:cxnLst/>
              <a:rect r="r" b="b" t="t" l="l"/>
              <a:pathLst>
                <a:path h="1017172" w="340290">
                  <a:moveTo>
                    <a:pt x="0" y="0"/>
                  </a:moveTo>
                  <a:lnTo>
                    <a:pt x="340291" y="0"/>
                  </a:lnTo>
                  <a:lnTo>
                    <a:pt x="340291" y="1017172"/>
                  </a:lnTo>
                  <a:lnTo>
                    <a:pt x="0" y="101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9" id="89"/>
            <p:cNvGrpSpPr/>
            <p:nvPr/>
          </p:nvGrpSpPr>
          <p:grpSpPr>
            <a:xfrm rot="0">
              <a:off x="2906188" y="1170395"/>
              <a:ext cx="348541" cy="348541"/>
              <a:chOff x="0" y="0"/>
              <a:chExt cx="812800" cy="8128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92" id="92"/>
            <p:cNvSpPr txBox="true"/>
            <p:nvPr/>
          </p:nvSpPr>
          <p:spPr>
            <a:xfrm rot="0">
              <a:off x="3463316" y="1198009"/>
              <a:ext cx="7132836" cy="59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Le statut passe à “Expédié” (ou “Affranchi” puis “Expédié” selon politique).</a:t>
              </a:r>
            </a:p>
            <a:p>
              <a:pPr algn="ctr">
                <a:lnSpc>
                  <a:spcPts val="1757"/>
                </a:lnSpc>
                <a:spcBef>
                  <a:spcPct val="0"/>
                </a:spcBef>
              </a:pPr>
            </a:p>
          </p:txBody>
        </p:sp>
        <p:grpSp>
          <p:nvGrpSpPr>
            <p:cNvPr name="Group 93" id="93"/>
            <p:cNvGrpSpPr/>
            <p:nvPr/>
          </p:nvGrpSpPr>
          <p:grpSpPr>
            <a:xfrm rot="0">
              <a:off x="2911372" y="1647730"/>
              <a:ext cx="348541" cy="348541"/>
              <a:chOff x="0" y="0"/>
              <a:chExt cx="812800" cy="8128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96" id="96"/>
            <p:cNvSpPr txBox="true"/>
            <p:nvPr/>
          </p:nvSpPr>
          <p:spPr>
            <a:xfrm rot="0">
              <a:off x="3445230" y="1647198"/>
              <a:ext cx="4929932" cy="59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Le système enregistre un événement d’historique.</a:t>
              </a:r>
            </a:p>
            <a:p>
              <a:pPr algn="ctr">
                <a:lnSpc>
                  <a:spcPts val="1757"/>
                </a:lnSpc>
                <a:spcBef>
                  <a:spcPct val="0"/>
                </a:spcBef>
              </a:pP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48545" y="159504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7 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29553" y="8069213"/>
            <a:ext cx="6970987" cy="1223137"/>
            <a:chOff x="0" y="0"/>
            <a:chExt cx="9294650" cy="1630850"/>
          </a:xfrm>
        </p:grpSpPr>
        <p:grpSp>
          <p:nvGrpSpPr>
            <p:cNvPr name="Group 99" id="99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102" id="102"/>
            <p:cNvSpPr txBox="true"/>
            <p:nvPr/>
          </p:nvSpPr>
          <p:spPr>
            <a:xfrm rot="0">
              <a:off x="1001382" y="235237"/>
              <a:ext cx="5878202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His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torique + impression + email (option)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0" y="178087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8</a:t>
              </a:r>
            </a:p>
          </p:txBody>
        </p:sp>
        <p:sp>
          <p:nvSpPr>
            <p:cNvPr name="Freeform 104" id="104"/>
            <p:cNvSpPr/>
            <p:nvPr/>
          </p:nvSpPr>
          <p:spPr>
            <a:xfrm flipH="false" flipV="false" rot="-3202534">
              <a:off x="1512343" y="464802"/>
              <a:ext cx="340290" cy="1017172"/>
            </a:xfrm>
            <a:custGeom>
              <a:avLst/>
              <a:gdLst/>
              <a:ahLst/>
              <a:cxnLst/>
              <a:rect r="r" b="b" t="t" l="l"/>
              <a:pathLst>
                <a:path h="1017172" w="340290">
                  <a:moveTo>
                    <a:pt x="0" y="0"/>
                  </a:moveTo>
                  <a:lnTo>
                    <a:pt x="340290" y="0"/>
                  </a:lnTo>
                  <a:lnTo>
                    <a:pt x="340290" y="1017172"/>
                  </a:lnTo>
                  <a:lnTo>
                    <a:pt x="0" y="101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5" id="105"/>
            <p:cNvGrpSpPr/>
            <p:nvPr/>
          </p:nvGrpSpPr>
          <p:grpSpPr>
            <a:xfrm rot="0">
              <a:off x="2906188" y="806767"/>
              <a:ext cx="348541" cy="348541"/>
              <a:chOff x="0" y="0"/>
              <a:chExt cx="812800" cy="8128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108" id="108"/>
            <p:cNvSpPr txBox="true"/>
            <p:nvPr/>
          </p:nvSpPr>
          <p:spPr>
            <a:xfrm rot="0">
              <a:off x="3445230" y="834381"/>
              <a:ext cx="5224611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L’opérateur cherche le client (nom/email/code client).</a:t>
              </a:r>
            </a:p>
          </p:txBody>
        </p:sp>
        <p:grpSp>
          <p:nvGrpSpPr>
            <p:cNvPr name="Group 109" id="109"/>
            <p:cNvGrpSpPr/>
            <p:nvPr/>
          </p:nvGrpSpPr>
          <p:grpSpPr>
            <a:xfrm rot="0">
              <a:off x="2911372" y="1282308"/>
              <a:ext cx="348541" cy="348541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112" id="112"/>
            <p:cNvSpPr txBox="true"/>
            <p:nvPr/>
          </p:nvSpPr>
          <p:spPr>
            <a:xfrm rot="0">
              <a:off x="3463316" y="1309923"/>
              <a:ext cx="5831334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Le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système envoie un email au client (optionnel) avec le suivi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836564" y="4250987"/>
            <a:ext cx="8379998" cy="1079402"/>
            <a:chOff x="0" y="0"/>
            <a:chExt cx="11173331" cy="1439203"/>
          </a:xfrm>
        </p:grpSpPr>
        <p:grpSp>
          <p:nvGrpSpPr>
            <p:cNvPr name="Group 114" id="114"/>
            <p:cNvGrpSpPr/>
            <p:nvPr/>
          </p:nvGrpSpPr>
          <p:grpSpPr>
            <a:xfrm rot="0">
              <a:off x="0" y="0"/>
              <a:ext cx="806767" cy="806767"/>
              <a:chOff x="0" y="0"/>
              <a:chExt cx="812800" cy="812800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117" id="117"/>
            <p:cNvSpPr txBox="true"/>
            <p:nvPr/>
          </p:nvSpPr>
          <p:spPr>
            <a:xfrm rot="0">
              <a:off x="1001382" y="195356"/>
              <a:ext cx="5878202" cy="298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0"/>
                </a:lnSpc>
                <a:spcBef>
                  <a:spcPct val="0"/>
                </a:spcBef>
              </a:pP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Saisi</a:t>
              </a:r>
              <a:r>
                <a:rPr lang="en-US" b="true" sz="13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n° suivi (Lettre suivie)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0" y="170568"/>
              <a:ext cx="806767" cy="48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7"/>
                </a:lnSpc>
                <a:spcBef>
                  <a:spcPct val="0"/>
                </a:spcBef>
              </a:pPr>
              <a:r>
                <a:rPr lang="en-US" b="true" sz="19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6</a:t>
              </a:r>
            </a:p>
          </p:txBody>
        </p:sp>
        <p:grpSp>
          <p:nvGrpSpPr>
            <p:cNvPr name="Group 119" id="119"/>
            <p:cNvGrpSpPr/>
            <p:nvPr/>
          </p:nvGrpSpPr>
          <p:grpSpPr>
            <a:xfrm rot="0">
              <a:off x="2906188" y="861849"/>
              <a:ext cx="348541" cy="348541"/>
              <a:chOff x="0" y="0"/>
              <a:chExt cx="812800" cy="81280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0C099"/>
                </a:solidFill>
                <a:prstDash val="solid"/>
                <a:miter/>
              </a:ln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7"/>
                  </a:lnSpc>
                </a:pPr>
              </a:p>
            </p:txBody>
          </p:sp>
        </p:grpSp>
        <p:sp>
          <p:nvSpPr>
            <p:cNvPr name="TextBox 122" id="122"/>
            <p:cNvSpPr txBox="true"/>
            <p:nvPr/>
          </p:nvSpPr>
          <p:spPr>
            <a:xfrm rot="0">
              <a:off x="3787487" y="889463"/>
              <a:ext cx="7385844" cy="30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7"/>
                </a:lnSpc>
                <a:spcBef>
                  <a:spcPct val="0"/>
                </a:spcBef>
              </a:pP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Le système identifie la </a:t>
              </a:r>
              <a:r>
                <a:rPr lang="en-US" b="true" sz="12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tranche de poids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et le </a:t>
              </a:r>
              <a:r>
                <a:rPr lang="en-US" b="true" sz="1255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tarif postal</a:t>
              </a:r>
              <a:r>
                <a:rPr lang="en-US" sz="1255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correspondant.</a:t>
              </a:r>
            </a:p>
          </p:txBody>
        </p:sp>
        <p:sp>
          <p:nvSpPr>
            <p:cNvPr name="Freeform 123" id="123"/>
            <p:cNvSpPr/>
            <p:nvPr/>
          </p:nvSpPr>
          <p:spPr>
            <a:xfrm flipH="false" flipV="false" rot="-3202534">
              <a:off x="1552754" y="365297"/>
              <a:ext cx="385264" cy="1151603"/>
            </a:xfrm>
            <a:custGeom>
              <a:avLst/>
              <a:gdLst/>
              <a:ahLst/>
              <a:cxnLst/>
              <a:rect r="r" b="b" t="t" l="l"/>
              <a:pathLst>
                <a:path h="1151603" w="385264">
                  <a:moveTo>
                    <a:pt x="0" y="0"/>
                  </a:moveTo>
                  <a:lnTo>
                    <a:pt x="385264" y="0"/>
                  </a:lnTo>
                  <a:lnTo>
                    <a:pt x="385264" y="1151604"/>
                  </a:lnTo>
                  <a:lnTo>
                    <a:pt x="0" y="115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-5400000">
            <a:off x="16707463" y="9363408"/>
            <a:ext cx="100931" cy="1484865"/>
            <a:chOff x="0" y="0"/>
            <a:chExt cx="64165" cy="94396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5779846" y="9582903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847109" y="9664737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847109" y="9725703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130" id="130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131" id="131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134" id="134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43429" y="1555995"/>
            <a:ext cx="12006263" cy="7629990"/>
            <a:chOff x="0" y="0"/>
            <a:chExt cx="3162143" cy="20095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2143" cy="2009545"/>
            </a:xfrm>
            <a:custGeom>
              <a:avLst/>
              <a:gdLst/>
              <a:ahLst/>
              <a:cxnLst/>
              <a:rect r="r" b="b" t="t" l="l"/>
              <a:pathLst>
                <a:path h="2009545" w="3162143">
                  <a:moveTo>
                    <a:pt x="0" y="0"/>
                  </a:moveTo>
                  <a:lnTo>
                    <a:pt x="3162143" y="0"/>
                  </a:lnTo>
                  <a:lnTo>
                    <a:pt x="3162143" y="2009545"/>
                  </a:lnTo>
                  <a:lnTo>
                    <a:pt x="0" y="2009545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162143" cy="2104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073553"/>
            <a:ext cx="18216562" cy="5622193"/>
            <a:chOff x="0" y="0"/>
            <a:chExt cx="4797778" cy="1480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1480742"/>
            </a:xfrm>
            <a:custGeom>
              <a:avLst/>
              <a:gdLst/>
              <a:ahLst/>
              <a:cxnLst/>
              <a:rect r="r" b="b" t="t" l="l"/>
              <a:pathLst>
                <a:path h="1480742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1480742"/>
                  </a:lnTo>
                  <a:lnTo>
                    <a:pt x="0" y="1480742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1575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711936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351882" y="6014237"/>
            <a:ext cx="605075" cy="605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0637168">
            <a:off x="-5671569" y="162839"/>
            <a:ext cx="20712358" cy="1458787"/>
            <a:chOff x="0" y="0"/>
            <a:chExt cx="2470966" cy="174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966" cy="174032"/>
            </a:xfrm>
            <a:custGeom>
              <a:avLst/>
              <a:gdLst/>
              <a:ahLst/>
              <a:cxnLst/>
              <a:rect r="r" b="b" t="t" l="l"/>
              <a:pathLst>
                <a:path h="174032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168484"/>
                  </a:lnTo>
                  <a:cubicBezTo>
                    <a:pt x="2470966" y="169955"/>
                    <a:pt x="2470381" y="171366"/>
                    <a:pt x="2469341" y="172407"/>
                  </a:cubicBezTo>
                  <a:cubicBezTo>
                    <a:pt x="2468300" y="173447"/>
                    <a:pt x="2466889" y="174032"/>
                    <a:pt x="2465417" y="174032"/>
                  </a:cubicBezTo>
                  <a:lnTo>
                    <a:pt x="5548" y="174032"/>
                  </a:lnTo>
                  <a:cubicBezTo>
                    <a:pt x="4077" y="174032"/>
                    <a:pt x="2666" y="173447"/>
                    <a:pt x="1625" y="172407"/>
                  </a:cubicBezTo>
                  <a:cubicBezTo>
                    <a:pt x="585" y="171366"/>
                    <a:pt x="0" y="169955"/>
                    <a:pt x="0" y="168484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470966" cy="15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51882" y="7014762"/>
            <a:ext cx="605075" cy="6050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51882" y="8019887"/>
            <a:ext cx="605075" cy="6050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6918" y="596826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d’activité (flux)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02918" y="6181140"/>
            <a:ext cx="294940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Swimlanes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: opérateur vs système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02918" y="7181664"/>
            <a:ext cx="483701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Branches :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conditionnement OK/KO, tarif OK/KO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02918" y="8186790"/>
            <a:ext cx="440865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Statu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ts : conditionné → affranchi → expédié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01622" y="5294013"/>
            <a:ext cx="2157450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message clé :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1882" y="8121019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51882" y="7102829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51882" y="6123990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113709" y="1537738"/>
            <a:ext cx="3893280" cy="8823297"/>
          </a:xfrm>
          <a:custGeom>
            <a:avLst/>
            <a:gdLst/>
            <a:ahLst/>
            <a:cxnLst/>
            <a:rect r="r" b="b" t="t" l="l"/>
            <a:pathLst>
              <a:path h="8823297" w="3893280">
                <a:moveTo>
                  <a:pt x="0" y="0"/>
                </a:moveTo>
                <a:lnTo>
                  <a:pt x="3893279" y="0"/>
                </a:lnTo>
                <a:lnTo>
                  <a:pt x="3893279" y="8823297"/>
                </a:lnTo>
                <a:lnTo>
                  <a:pt x="0" y="8823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5400000">
            <a:off x="16731698" y="9374035"/>
            <a:ext cx="100931" cy="1484865"/>
            <a:chOff x="0" y="0"/>
            <a:chExt cx="64165" cy="9439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5804081" y="959353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71344" y="967536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71344" y="973633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39" id="3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43429" y="1794132"/>
            <a:ext cx="12006263" cy="7391852"/>
            <a:chOff x="0" y="0"/>
            <a:chExt cx="3162143" cy="194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2143" cy="1946825"/>
            </a:xfrm>
            <a:custGeom>
              <a:avLst/>
              <a:gdLst/>
              <a:ahLst/>
              <a:cxnLst/>
              <a:rect r="r" b="b" t="t" l="l"/>
              <a:pathLst>
                <a:path h="1946825" w="3162143">
                  <a:moveTo>
                    <a:pt x="0" y="0"/>
                  </a:moveTo>
                  <a:lnTo>
                    <a:pt x="3162143" y="0"/>
                  </a:lnTo>
                  <a:lnTo>
                    <a:pt x="3162143" y="1946825"/>
                  </a:lnTo>
                  <a:lnTo>
                    <a:pt x="0" y="1946825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162143" cy="204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073553"/>
            <a:ext cx="18216562" cy="5622193"/>
            <a:chOff x="0" y="0"/>
            <a:chExt cx="4797778" cy="1480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1480742"/>
            </a:xfrm>
            <a:custGeom>
              <a:avLst/>
              <a:gdLst/>
              <a:ahLst/>
              <a:cxnLst/>
              <a:rect r="r" b="b" t="t" l="l"/>
              <a:pathLst>
                <a:path h="1480742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1480742"/>
                  </a:lnTo>
                  <a:lnTo>
                    <a:pt x="0" y="1480742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1575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711936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351882" y="6014237"/>
            <a:ext cx="605075" cy="605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51882" y="7014762"/>
            <a:ext cx="605075" cy="6050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51882" y="8019887"/>
            <a:ext cx="605075" cy="6050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408440" y="1505709"/>
            <a:ext cx="7790791" cy="8288076"/>
          </a:xfrm>
          <a:custGeom>
            <a:avLst/>
            <a:gdLst/>
            <a:ahLst/>
            <a:cxnLst/>
            <a:rect r="r" b="b" t="t" l="l"/>
            <a:pathLst>
              <a:path h="8288076" w="7790791">
                <a:moveTo>
                  <a:pt x="0" y="0"/>
                </a:moveTo>
                <a:lnTo>
                  <a:pt x="7790792" y="0"/>
                </a:lnTo>
                <a:lnTo>
                  <a:pt x="7790792" y="8288076"/>
                </a:lnTo>
                <a:lnTo>
                  <a:pt x="0" y="828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6361" y="615876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de séquence (interactions)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02918" y="6181140"/>
            <a:ext cx="2826804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UI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→ services → BDD → (La Poste)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02918" y="7094726"/>
            <a:ext cx="4837011" cy="4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alt :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conditionnement OK/KO, tarif OK/KO, suivi valide/invalide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02918" y="8186790"/>
            <a:ext cx="440865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traçabili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té : insertion historique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1882" y="5294013"/>
            <a:ext cx="2106476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ssage clé :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51882" y="8121019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51882" y="7102829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1882" y="6123990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</a:t>
            </a:r>
          </a:p>
        </p:txBody>
      </p:sp>
      <p:grpSp>
        <p:nvGrpSpPr>
          <p:cNvPr name="Group 32" id="32"/>
          <p:cNvGrpSpPr/>
          <p:nvPr/>
        </p:nvGrpSpPr>
        <p:grpSpPr>
          <a:xfrm rot="-5400000">
            <a:off x="16731698" y="9225255"/>
            <a:ext cx="100931" cy="1484865"/>
            <a:chOff x="0" y="0"/>
            <a:chExt cx="64165" cy="9439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5804081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71344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71344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555" y="9444750"/>
            <a:ext cx="509898" cy="675179"/>
            <a:chOff x="0" y="0"/>
            <a:chExt cx="679864" cy="900238"/>
          </a:xfrm>
        </p:grpSpPr>
        <p:grpSp>
          <p:nvGrpSpPr>
            <p:cNvPr name="Group 39" id="3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1794132"/>
            <a:ext cx="12006263" cy="7391852"/>
            <a:chOff x="0" y="0"/>
            <a:chExt cx="3162143" cy="194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2143" cy="1946825"/>
            </a:xfrm>
            <a:custGeom>
              <a:avLst/>
              <a:gdLst/>
              <a:ahLst/>
              <a:cxnLst/>
              <a:rect r="r" b="b" t="t" l="l"/>
              <a:pathLst>
                <a:path h="1946825" w="3162143">
                  <a:moveTo>
                    <a:pt x="0" y="0"/>
                  </a:moveTo>
                  <a:lnTo>
                    <a:pt x="3162143" y="0"/>
                  </a:lnTo>
                  <a:lnTo>
                    <a:pt x="3162143" y="1946825"/>
                  </a:lnTo>
                  <a:lnTo>
                    <a:pt x="0" y="1946825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162143" cy="204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2459279"/>
            <a:ext cx="18216562" cy="8236467"/>
            <a:chOff x="0" y="0"/>
            <a:chExt cx="4797778" cy="2169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7778" cy="2169275"/>
            </a:xfrm>
            <a:custGeom>
              <a:avLst/>
              <a:gdLst/>
              <a:ahLst/>
              <a:cxnLst/>
              <a:rect r="r" b="b" t="t" l="l"/>
              <a:pathLst>
                <a:path h="2169275" w="4797778">
                  <a:moveTo>
                    <a:pt x="0" y="0"/>
                  </a:moveTo>
                  <a:lnTo>
                    <a:pt x="4797778" y="0"/>
                  </a:lnTo>
                  <a:lnTo>
                    <a:pt x="4797778" y="2169275"/>
                  </a:lnTo>
                  <a:lnTo>
                    <a:pt x="0" y="2169275"/>
                  </a:lnTo>
                  <a:close/>
                </a:path>
              </a:pathLst>
            </a:custGeom>
            <a:solidFill>
              <a:srgbClr val="D2E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797778" cy="226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8216562" y="2649099"/>
            <a:ext cx="0" cy="7556298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395311" y="4179429"/>
            <a:ext cx="605075" cy="605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95311" y="5179953"/>
            <a:ext cx="605075" cy="6050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95311" y="6185079"/>
            <a:ext cx="605075" cy="6050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95311" y="7190204"/>
            <a:ext cx="605075" cy="60507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95311" y="8128654"/>
            <a:ext cx="605075" cy="6050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0C09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7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6739344" y="9225255"/>
            <a:ext cx="100931" cy="1484865"/>
            <a:chOff x="0" y="0"/>
            <a:chExt cx="64165" cy="9439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5886" y="2141771"/>
            <a:ext cx="12258125" cy="7463015"/>
          </a:xfrm>
          <a:custGeom>
            <a:avLst/>
            <a:gdLst/>
            <a:ahLst/>
            <a:cxnLst/>
            <a:rect r="r" b="b" t="t" l="l"/>
            <a:pathLst>
              <a:path h="7463015" w="12258125">
                <a:moveTo>
                  <a:pt x="0" y="0"/>
                </a:moveTo>
                <a:lnTo>
                  <a:pt x="12258126" y="0"/>
                </a:lnTo>
                <a:lnTo>
                  <a:pt x="12258126" y="7463015"/>
                </a:lnTo>
                <a:lnTo>
                  <a:pt x="0" y="746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31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6361" y="615876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de classe (interactions)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46348" y="4346332"/>
            <a:ext cx="4922676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ient 1..* Commande ; Commande contient lignes + colis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46348" y="5259917"/>
            <a:ext cx="3887887" cy="4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Règles min/max :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Objet ↔ Emballage (RegleConditionnement)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46348" y="6351981"/>
            <a:ext cx="440865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Tarif pos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tal : tranche poids → prix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95311" y="3617437"/>
            <a:ext cx="2106476" cy="43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ssage clé :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95311" y="6286210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95311" y="5268020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5311" y="4289182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46348" y="7357107"/>
            <a:ext cx="440865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Traçabili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té : EvenementHistorique + Utilisateur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95311" y="7291336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46348" y="8295557"/>
            <a:ext cx="4408651" cy="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</a:t>
            </a:r>
            <a:r>
              <a:rPr lang="en-US" b="true" sz="1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lacements conservés (existant)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95311" y="8229786"/>
            <a:ext cx="605075" cy="38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b="true" sz="195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811727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78990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78990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6361" y="9579633"/>
            <a:ext cx="690559" cy="675179"/>
            <a:chOff x="0" y="0"/>
            <a:chExt cx="920745" cy="900238"/>
          </a:xfrm>
        </p:grpSpPr>
        <p:grpSp>
          <p:nvGrpSpPr>
            <p:cNvPr name="Group 49" id="4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152400"/>
              <a:ext cx="920745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78221" y="1424250"/>
            <a:ext cx="7899096" cy="4872478"/>
          </a:xfrm>
          <a:custGeom>
            <a:avLst/>
            <a:gdLst/>
            <a:ahLst/>
            <a:cxnLst/>
            <a:rect r="r" b="b" t="t" l="l"/>
            <a:pathLst>
              <a:path h="4872478" w="7899096">
                <a:moveTo>
                  <a:pt x="0" y="0"/>
                </a:moveTo>
                <a:lnTo>
                  <a:pt x="7899097" y="0"/>
                </a:lnTo>
                <a:lnTo>
                  <a:pt x="7899097" y="4872478"/>
                </a:lnTo>
                <a:lnTo>
                  <a:pt x="0" y="4872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68" r="0" b="-2001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68219" y="2576536"/>
            <a:ext cx="6651442" cy="3446326"/>
          </a:xfrm>
          <a:custGeom>
            <a:avLst/>
            <a:gdLst/>
            <a:ahLst/>
            <a:cxnLst/>
            <a:rect r="r" b="b" t="t" l="l"/>
            <a:pathLst>
              <a:path h="3446326" w="6651442">
                <a:moveTo>
                  <a:pt x="0" y="0"/>
                </a:moveTo>
                <a:lnTo>
                  <a:pt x="6651441" y="0"/>
                </a:lnTo>
                <a:lnTo>
                  <a:pt x="6651441" y="3446326"/>
                </a:lnTo>
                <a:lnTo>
                  <a:pt x="0" y="344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747" r="-8306" b="-2402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19900" y="2324564"/>
            <a:ext cx="7978852" cy="4091086"/>
          </a:xfrm>
          <a:custGeom>
            <a:avLst/>
            <a:gdLst/>
            <a:ahLst/>
            <a:cxnLst/>
            <a:rect r="r" b="b" t="t" l="l"/>
            <a:pathLst>
              <a:path h="4091086" w="7978852">
                <a:moveTo>
                  <a:pt x="0" y="0"/>
                </a:moveTo>
                <a:lnTo>
                  <a:pt x="7978852" y="0"/>
                </a:lnTo>
                <a:lnTo>
                  <a:pt x="7978852" y="4091086"/>
                </a:lnTo>
                <a:lnTo>
                  <a:pt x="0" y="4091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514" r="-3192" b="-2342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5502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>
                <a:solidFill>
                  <a:srgbClr val="313947"/>
                </a:solidFill>
                <a:latin typeface="Poppins"/>
                <a:ea typeface="Poppins"/>
                <a:cs typeface="Poppins"/>
                <a:sym typeface="Poppins"/>
              </a:rPr>
              <a:t>les maquettes ont été fait via figma : lien fin de PowerPoint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797572" y="5436790"/>
            <a:ext cx="6321564" cy="3966291"/>
          </a:xfrm>
          <a:custGeom>
            <a:avLst/>
            <a:gdLst/>
            <a:ahLst/>
            <a:cxnLst/>
            <a:rect r="r" b="b" t="t" l="l"/>
            <a:pathLst>
              <a:path h="3966291" w="6321564">
                <a:moveTo>
                  <a:pt x="0" y="0"/>
                </a:moveTo>
                <a:lnTo>
                  <a:pt x="6321565" y="0"/>
                </a:lnTo>
                <a:lnTo>
                  <a:pt x="6321565" y="3966291"/>
                </a:lnTo>
                <a:lnTo>
                  <a:pt x="0" y="3966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953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93442" y="5057049"/>
            <a:ext cx="7337990" cy="4610338"/>
          </a:xfrm>
          <a:custGeom>
            <a:avLst/>
            <a:gdLst/>
            <a:ahLst/>
            <a:cxnLst/>
            <a:rect r="r" b="b" t="t" l="l"/>
            <a:pathLst>
              <a:path h="4610338" w="7337990">
                <a:moveTo>
                  <a:pt x="0" y="0"/>
                </a:moveTo>
                <a:lnTo>
                  <a:pt x="7337990" y="0"/>
                </a:lnTo>
                <a:lnTo>
                  <a:pt x="7337990" y="4610339"/>
                </a:lnTo>
                <a:lnTo>
                  <a:pt x="0" y="4610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34" r="0" b="-17338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2642" y="5246550"/>
            <a:ext cx="6147269" cy="4350526"/>
          </a:xfrm>
          <a:custGeom>
            <a:avLst/>
            <a:gdLst/>
            <a:ahLst/>
            <a:cxnLst/>
            <a:rect r="r" b="b" t="t" l="l"/>
            <a:pathLst>
              <a:path h="4350526" w="6147269">
                <a:moveTo>
                  <a:pt x="0" y="0"/>
                </a:moveTo>
                <a:lnTo>
                  <a:pt x="6147269" y="0"/>
                </a:lnTo>
                <a:lnTo>
                  <a:pt x="6147269" y="4350525"/>
                </a:lnTo>
                <a:lnTo>
                  <a:pt x="0" y="4350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49" t="0" r="-4213" b="-1897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2744" y="9567008"/>
            <a:ext cx="509898" cy="675179"/>
            <a:chOff x="0" y="0"/>
            <a:chExt cx="679864" cy="900238"/>
          </a:xfrm>
        </p:grpSpPr>
        <p:grpSp>
          <p:nvGrpSpPr>
            <p:cNvPr name="Group 23" id="23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52400"/>
              <a:ext cx="679864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85131" y="2625767"/>
            <a:ext cx="11882412" cy="7341920"/>
          </a:xfrm>
          <a:custGeom>
            <a:avLst/>
            <a:gdLst/>
            <a:ahLst/>
            <a:cxnLst/>
            <a:rect r="r" b="b" t="t" l="l"/>
            <a:pathLst>
              <a:path h="7341920" w="11882412">
                <a:moveTo>
                  <a:pt x="0" y="0"/>
                </a:moveTo>
                <a:lnTo>
                  <a:pt x="11882412" y="0"/>
                </a:lnTo>
                <a:lnTo>
                  <a:pt x="11882412" y="7341921"/>
                </a:lnTo>
                <a:lnTo>
                  <a:pt x="0" y="7341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8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9333" y="-1303750"/>
            <a:ext cx="18666906" cy="11695143"/>
          </a:xfrm>
          <a:custGeom>
            <a:avLst/>
            <a:gdLst/>
            <a:ahLst/>
            <a:cxnLst/>
            <a:rect r="r" b="b" t="t" l="l"/>
            <a:pathLst>
              <a:path h="11695143" w="18666906">
                <a:moveTo>
                  <a:pt x="0" y="0"/>
                </a:moveTo>
                <a:lnTo>
                  <a:pt x="18666906" y="0"/>
                </a:lnTo>
                <a:lnTo>
                  <a:pt x="18666906" y="11695142"/>
                </a:lnTo>
                <a:lnTo>
                  <a:pt x="0" y="11695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970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login : 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85131" y="2625767"/>
            <a:ext cx="11882412" cy="7341920"/>
          </a:xfrm>
          <a:custGeom>
            <a:avLst/>
            <a:gdLst/>
            <a:ahLst/>
            <a:cxnLst/>
            <a:rect r="r" b="b" t="t" l="l"/>
            <a:pathLst>
              <a:path h="7341920" w="11882412">
                <a:moveTo>
                  <a:pt x="0" y="0"/>
                </a:moveTo>
                <a:lnTo>
                  <a:pt x="11882412" y="0"/>
                </a:lnTo>
                <a:lnTo>
                  <a:pt x="11882412" y="7341921"/>
                </a:lnTo>
                <a:lnTo>
                  <a:pt x="0" y="7341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8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9604" y="2515063"/>
            <a:ext cx="14665265" cy="7402159"/>
          </a:xfrm>
          <a:custGeom>
            <a:avLst/>
            <a:gdLst/>
            <a:ahLst/>
            <a:cxnLst/>
            <a:rect r="r" b="b" t="t" l="l"/>
            <a:pathLst>
              <a:path h="7402159" w="14665265">
                <a:moveTo>
                  <a:pt x="0" y="0"/>
                </a:moveTo>
                <a:lnTo>
                  <a:pt x="14665265" y="0"/>
                </a:lnTo>
                <a:lnTo>
                  <a:pt x="14665265" y="7402159"/>
                </a:lnTo>
                <a:lnTo>
                  <a:pt x="0" y="7402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269" r="-8306" b="-2466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Accueil :  </a:t>
            </a:r>
            <a:r>
              <a:rPr lang="en-US" sz="2618" spc="-65">
                <a:solidFill>
                  <a:srgbClr val="313947"/>
                </a:solidFill>
                <a:latin typeface="Poppins"/>
                <a:ea typeface="Poppins"/>
                <a:cs typeface="Poppins"/>
                <a:sym typeface="Poppins"/>
              </a:rPr>
              <a:t>( les maquettes on été fais via figma : lien fin de powerpoint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37576" y="2575302"/>
            <a:ext cx="11882412" cy="7341920"/>
          </a:xfrm>
          <a:custGeom>
            <a:avLst/>
            <a:gdLst/>
            <a:ahLst/>
            <a:cxnLst/>
            <a:rect r="r" b="b" t="t" l="l"/>
            <a:pathLst>
              <a:path h="7341920" w="11882412">
                <a:moveTo>
                  <a:pt x="0" y="0"/>
                </a:moveTo>
                <a:lnTo>
                  <a:pt x="11882412" y="0"/>
                </a:lnTo>
                <a:lnTo>
                  <a:pt x="11882412" y="7341920"/>
                </a:lnTo>
                <a:lnTo>
                  <a:pt x="0" y="734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8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0614" y="-126754"/>
            <a:ext cx="15686529" cy="10144908"/>
          </a:xfrm>
          <a:custGeom>
            <a:avLst/>
            <a:gdLst/>
            <a:ahLst/>
            <a:cxnLst/>
            <a:rect r="r" b="b" t="t" l="l"/>
            <a:pathLst>
              <a:path h="10144908" w="15686529">
                <a:moveTo>
                  <a:pt x="0" y="0"/>
                </a:moveTo>
                <a:lnTo>
                  <a:pt x="15686529" y="0"/>
                </a:lnTo>
                <a:lnTo>
                  <a:pt x="15686529" y="10144908"/>
                </a:lnTo>
                <a:lnTo>
                  <a:pt x="0" y="1014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95" t="0" r="0" b="-179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clients :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37576" y="2575302"/>
            <a:ext cx="11882412" cy="7341920"/>
          </a:xfrm>
          <a:custGeom>
            <a:avLst/>
            <a:gdLst/>
            <a:ahLst/>
            <a:cxnLst/>
            <a:rect r="r" b="b" t="t" l="l"/>
            <a:pathLst>
              <a:path h="7341920" w="11882412">
                <a:moveTo>
                  <a:pt x="0" y="0"/>
                </a:moveTo>
                <a:lnTo>
                  <a:pt x="11882412" y="0"/>
                </a:lnTo>
                <a:lnTo>
                  <a:pt x="11882412" y="7341920"/>
                </a:lnTo>
                <a:lnTo>
                  <a:pt x="0" y="734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8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-751138"/>
            <a:ext cx="16852301" cy="11038138"/>
          </a:xfrm>
          <a:custGeom>
            <a:avLst/>
            <a:gdLst/>
            <a:ahLst/>
            <a:cxnLst/>
            <a:rect r="r" b="b" t="t" l="l"/>
            <a:pathLst>
              <a:path h="11038138" w="16852301">
                <a:moveTo>
                  <a:pt x="0" y="0"/>
                </a:moveTo>
                <a:lnTo>
                  <a:pt x="16852301" y="0"/>
                </a:lnTo>
                <a:lnTo>
                  <a:pt x="16852301" y="11038138"/>
                </a:lnTo>
                <a:lnTo>
                  <a:pt x="0" y="11038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899" b="-1897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commandes &amp; clients :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37576" y="2575302"/>
            <a:ext cx="11882412" cy="7341920"/>
          </a:xfrm>
          <a:custGeom>
            <a:avLst/>
            <a:gdLst/>
            <a:ahLst/>
            <a:cxnLst/>
            <a:rect r="r" b="b" t="t" l="l"/>
            <a:pathLst>
              <a:path h="7341920" w="11882412">
                <a:moveTo>
                  <a:pt x="0" y="0"/>
                </a:moveTo>
                <a:lnTo>
                  <a:pt x="11882412" y="0"/>
                </a:lnTo>
                <a:lnTo>
                  <a:pt x="11882412" y="7341920"/>
                </a:lnTo>
                <a:lnTo>
                  <a:pt x="0" y="734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8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828150" y="-1533393"/>
            <a:ext cx="19044712" cy="12513856"/>
          </a:xfrm>
          <a:custGeom>
            <a:avLst/>
            <a:gdLst/>
            <a:ahLst/>
            <a:cxnLst/>
            <a:rect r="r" b="b" t="t" l="l"/>
            <a:pathLst>
              <a:path h="12513856" w="19044712">
                <a:moveTo>
                  <a:pt x="0" y="0"/>
                </a:moveTo>
                <a:lnTo>
                  <a:pt x="19044712" y="0"/>
                </a:lnTo>
                <a:lnTo>
                  <a:pt x="19044712" y="12513856"/>
                </a:lnTo>
                <a:lnTo>
                  <a:pt x="0" y="12513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7" b="-1699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Condionnement &amp; colis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675750" y="-1380993"/>
            <a:ext cx="19044712" cy="12513856"/>
          </a:xfrm>
          <a:custGeom>
            <a:avLst/>
            <a:gdLst/>
            <a:ahLst/>
            <a:cxnLst/>
            <a:rect r="r" b="b" t="t" l="l"/>
            <a:pathLst>
              <a:path h="12513856" w="19044712">
                <a:moveTo>
                  <a:pt x="0" y="0"/>
                </a:moveTo>
                <a:lnTo>
                  <a:pt x="19044712" y="0"/>
                </a:lnTo>
                <a:lnTo>
                  <a:pt x="19044712" y="12513856"/>
                </a:lnTo>
                <a:lnTo>
                  <a:pt x="0" y="12513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7" b="-16992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20" id="20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216562" y="7239352"/>
            <a:ext cx="0" cy="7048145"/>
          </a:xfrm>
          <a:prstGeom prst="line">
            <a:avLst/>
          </a:prstGeom>
          <a:ln cap="flat" w="276225">
            <a:gradFill>
              <a:gsLst>
                <a:gs pos="0">
                  <a:srgbClr val="548F7B">
                    <a:alpha val="100000"/>
                  </a:srgbClr>
                </a:gs>
                <a:gs pos="100000">
                  <a:srgbClr val="4AC19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8216562" y="-4000497"/>
            <a:ext cx="0" cy="7048145"/>
          </a:xfrm>
          <a:prstGeom prst="line">
            <a:avLst/>
          </a:prstGeom>
          <a:ln cap="flat" w="276225">
            <a:solidFill>
              <a:srgbClr val="4D8F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8216562" y="2649099"/>
            <a:ext cx="0" cy="7616402"/>
          </a:xfrm>
          <a:prstGeom prst="line">
            <a:avLst/>
          </a:prstGeom>
          <a:ln cap="flat" w="276225">
            <a:gradFill>
              <a:gsLst>
                <a:gs pos="0">
                  <a:srgbClr val="4AC19A">
                    <a:alpha val="100000"/>
                  </a:srgbClr>
                </a:gs>
                <a:gs pos="100000">
                  <a:srgbClr val="55907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10637168">
            <a:off x="-5655764" y="162465"/>
            <a:ext cx="20712358" cy="2126411"/>
            <a:chOff x="0" y="0"/>
            <a:chExt cx="2470966" cy="253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0966" cy="253679"/>
            </a:xfrm>
            <a:custGeom>
              <a:avLst/>
              <a:gdLst/>
              <a:ahLst/>
              <a:cxnLst/>
              <a:rect r="r" b="b" t="t" l="l"/>
              <a:pathLst>
                <a:path h="253679" w="2470966">
                  <a:moveTo>
                    <a:pt x="5548" y="0"/>
                  </a:moveTo>
                  <a:lnTo>
                    <a:pt x="2465417" y="0"/>
                  </a:lnTo>
                  <a:cubicBezTo>
                    <a:pt x="2466889" y="0"/>
                    <a:pt x="2468300" y="585"/>
                    <a:pt x="2469341" y="1625"/>
                  </a:cubicBezTo>
                  <a:cubicBezTo>
                    <a:pt x="2470381" y="2666"/>
                    <a:pt x="2470966" y="4077"/>
                    <a:pt x="2470966" y="5548"/>
                  </a:cubicBezTo>
                  <a:lnTo>
                    <a:pt x="2470966" y="248131"/>
                  </a:lnTo>
                  <a:cubicBezTo>
                    <a:pt x="2470966" y="249602"/>
                    <a:pt x="2470381" y="251013"/>
                    <a:pt x="2469341" y="252054"/>
                  </a:cubicBezTo>
                  <a:cubicBezTo>
                    <a:pt x="2468300" y="253094"/>
                    <a:pt x="2466889" y="253679"/>
                    <a:pt x="2465417" y="253679"/>
                  </a:cubicBezTo>
                  <a:lnTo>
                    <a:pt x="5548" y="253679"/>
                  </a:lnTo>
                  <a:cubicBezTo>
                    <a:pt x="4077" y="253679"/>
                    <a:pt x="2666" y="253094"/>
                    <a:pt x="1625" y="252054"/>
                  </a:cubicBezTo>
                  <a:cubicBezTo>
                    <a:pt x="585" y="251013"/>
                    <a:pt x="0" y="249602"/>
                    <a:pt x="0" y="248131"/>
                  </a:cubicBezTo>
                  <a:lnTo>
                    <a:pt x="0" y="5548"/>
                  </a:lnTo>
                  <a:cubicBezTo>
                    <a:pt x="0" y="4077"/>
                    <a:pt x="585" y="2666"/>
                    <a:pt x="1625" y="1625"/>
                  </a:cubicBezTo>
                  <a:cubicBezTo>
                    <a:pt x="2666" y="585"/>
                    <a:pt x="4077" y="0"/>
                    <a:pt x="5548" y="0"/>
                  </a:cubicBezTo>
                  <a:close/>
                </a:path>
              </a:pathLst>
            </a:custGeom>
            <a:solidFill>
              <a:srgbClr val="9AD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470966" cy="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696836" y="9225255"/>
            <a:ext cx="100931" cy="1484865"/>
            <a:chOff x="0" y="0"/>
            <a:chExt cx="64165" cy="943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101601" y="-898551"/>
            <a:ext cx="18081628" cy="11344818"/>
          </a:xfrm>
          <a:custGeom>
            <a:avLst/>
            <a:gdLst/>
            <a:ahLst/>
            <a:cxnLst/>
            <a:rect r="r" b="b" t="t" l="l"/>
            <a:pathLst>
              <a:path h="11344818" w="18081628">
                <a:moveTo>
                  <a:pt x="0" y="0"/>
                </a:moveTo>
                <a:lnTo>
                  <a:pt x="18081628" y="0"/>
                </a:lnTo>
                <a:lnTo>
                  <a:pt x="18081628" y="11344818"/>
                </a:lnTo>
                <a:lnTo>
                  <a:pt x="0" y="1134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953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773310"/>
            <a:ext cx="15007348" cy="7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5018" spc="-12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Slid</a:t>
            </a:r>
            <a:r>
              <a:rPr lang="en-US" b="true" sz="5018" spc="-125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e annexe — Cinématique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9219" y="9444750"/>
            <a:ext cx="2135848" cy="4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Baptiste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36482" y="9526584"/>
            <a:ext cx="932737" cy="10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6482" y="9587550"/>
            <a:ext cx="932737" cy="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"/>
              </a:lnSpc>
            </a:pPr>
            <a:r>
              <a:rPr lang="en-US" b="true" sz="935" spc="-40">
                <a:solidFill>
                  <a:srgbClr val="483C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Partenaire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2060583"/>
            <a:ext cx="15007348" cy="36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618" spc="-65" b="true">
                <a:solidFill>
                  <a:srgbClr val="313947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Gestions suivi et validation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18" id="18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42850">
            <a:off x="9679024" y="6619098"/>
            <a:ext cx="5620085" cy="1029530"/>
            <a:chOff x="0" y="0"/>
            <a:chExt cx="810351" cy="148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0351" cy="148446"/>
            </a:xfrm>
            <a:custGeom>
              <a:avLst/>
              <a:gdLst/>
              <a:ahLst/>
              <a:cxnLst/>
              <a:rect r="r" b="b" t="t" l="l"/>
              <a:pathLst>
                <a:path h="148446" w="810351">
                  <a:moveTo>
                    <a:pt x="0" y="0"/>
                  </a:moveTo>
                  <a:lnTo>
                    <a:pt x="810351" y="0"/>
                  </a:lnTo>
                  <a:lnTo>
                    <a:pt x="810351" y="148446"/>
                  </a:lnTo>
                  <a:lnTo>
                    <a:pt x="0" y="148446"/>
                  </a:lnTo>
                  <a:close/>
                </a:path>
              </a:pathLst>
            </a:custGeom>
            <a:solidFill>
              <a:srgbClr val="C3CB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0351" cy="138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31256">
            <a:off x="1226505" y="2451418"/>
            <a:ext cx="1251572" cy="1078124"/>
            <a:chOff x="0" y="0"/>
            <a:chExt cx="655855" cy="5649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855" cy="564963"/>
            </a:xfrm>
            <a:custGeom>
              <a:avLst/>
              <a:gdLst/>
              <a:ahLst/>
              <a:cxnLst/>
              <a:rect r="r" b="b" t="t" l="l"/>
              <a:pathLst>
                <a:path h="564963" w="655855">
                  <a:moveTo>
                    <a:pt x="0" y="0"/>
                  </a:moveTo>
                  <a:lnTo>
                    <a:pt x="655855" y="0"/>
                  </a:lnTo>
                  <a:lnTo>
                    <a:pt x="655855" y="564963"/>
                  </a:lnTo>
                  <a:lnTo>
                    <a:pt x="0" y="564963"/>
                  </a:lnTo>
                  <a:close/>
                </a:path>
              </a:pathLst>
            </a:custGeom>
            <a:solidFill>
              <a:srgbClr val="C3CBC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655855" cy="555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4527926" y="5143500"/>
            <a:ext cx="2731374" cy="2557078"/>
          </a:xfrm>
          <a:custGeom>
            <a:avLst/>
            <a:gdLst/>
            <a:ahLst/>
            <a:cxnLst/>
            <a:rect r="r" b="b" t="t" l="l"/>
            <a:pathLst>
              <a:path h="2557078" w="2731374">
                <a:moveTo>
                  <a:pt x="2731374" y="0"/>
                </a:moveTo>
                <a:lnTo>
                  <a:pt x="0" y="0"/>
                </a:lnTo>
                <a:lnTo>
                  <a:pt x="0" y="2557078"/>
                </a:lnTo>
                <a:lnTo>
                  <a:pt x="2731374" y="2557078"/>
                </a:lnTo>
                <a:lnTo>
                  <a:pt x="2731374" y="0"/>
                </a:lnTo>
                <a:close/>
              </a:path>
            </a:pathLst>
          </a:custGeom>
          <a:blipFill>
            <a:blip r:embed="rId2"/>
            <a:stretch>
              <a:fillRect l="0" t="-3408" r="0" b="-3408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98902" y="7575412"/>
            <a:ext cx="8240828" cy="1086277"/>
            <a:chOff x="0" y="0"/>
            <a:chExt cx="927678" cy="1222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7678" cy="122283"/>
            </a:xfrm>
            <a:custGeom>
              <a:avLst/>
              <a:gdLst/>
              <a:ahLst/>
              <a:cxnLst/>
              <a:rect r="r" b="b" t="t" l="l"/>
              <a:pathLst>
                <a:path h="122283" w="927678">
                  <a:moveTo>
                    <a:pt x="0" y="0"/>
                  </a:moveTo>
                  <a:lnTo>
                    <a:pt x="927678" y="0"/>
                  </a:lnTo>
                  <a:lnTo>
                    <a:pt x="927678" y="122283"/>
                  </a:lnTo>
                  <a:lnTo>
                    <a:pt x="0" y="122283"/>
                  </a:lnTo>
                  <a:close/>
                </a:path>
              </a:pathLst>
            </a:custGeom>
            <a:solidFill>
              <a:srgbClr val="C3CB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927678" cy="11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6983768" y="9225255"/>
            <a:ext cx="100931" cy="1484865"/>
            <a:chOff x="0" y="0"/>
            <a:chExt cx="64165" cy="943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165" cy="943964"/>
            </a:xfrm>
            <a:custGeom>
              <a:avLst/>
              <a:gdLst/>
              <a:ahLst/>
              <a:cxnLst/>
              <a:rect r="r" b="b" t="t" l="l"/>
              <a:pathLst>
                <a:path h="943964" w="64165">
                  <a:moveTo>
                    <a:pt x="0" y="0"/>
                  </a:moveTo>
                  <a:lnTo>
                    <a:pt x="64165" y="0"/>
                  </a:lnTo>
                  <a:lnTo>
                    <a:pt x="64165" y="943964"/>
                  </a:lnTo>
                  <a:lnTo>
                    <a:pt x="0" y="943964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4165" cy="96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27385" y="2511866"/>
            <a:ext cx="849723" cy="849723"/>
          </a:xfrm>
          <a:custGeom>
            <a:avLst/>
            <a:gdLst/>
            <a:ahLst/>
            <a:cxnLst/>
            <a:rect r="r" b="b" t="t" l="l"/>
            <a:pathLst>
              <a:path h="849723" w="849723">
                <a:moveTo>
                  <a:pt x="0" y="0"/>
                </a:moveTo>
                <a:lnTo>
                  <a:pt x="849722" y="0"/>
                </a:lnTo>
                <a:lnTo>
                  <a:pt x="849722" y="849723"/>
                </a:lnTo>
                <a:lnTo>
                  <a:pt x="0" y="84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6384" y="3728156"/>
            <a:ext cx="1415344" cy="1415344"/>
          </a:xfrm>
          <a:custGeom>
            <a:avLst/>
            <a:gdLst/>
            <a:ahLst/>
            <a:cxnLst/>
            <a:rect r="r" b="b" t="t" l="l"/>
            <a:pathLst>
              <a:path h="1415344" w="1415344">
                <a:moveTo>
                  <a:pt x="0" y="0"/>
                </a:moveTo>
                <a:lnTo>
                  <a:pt x="1415344" y="0"/>
                </a:lnTo>
                <a:lnTo>
                  <a:pt x="1415344" y="1415344"/>
                </a:lnTo>
                <a:lnTo>
                  <a:pt x="0" y="1415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857108" y="9406650"/>
            <a:ext cx="2155209" cy="51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Baptiste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754336" y="9499151"/>
            <a:ext cx="932737" cy="238549"/>
            <a:chOff x="0" y="0"/>
            <a:chExt cx="1243650" cy="31806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9050"/>
              <a:ext cx="1243650" cy="16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70"/>
                </a:lnSpc>
              </a:pPr>
              <a:r>
                <a:rPr lang="en-US" b="true" sz="935" spc="-40">
                  <a:solidFill>
                    <a:srgbClr val="483C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Votre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0074"/>
              <a:ext cx="1243650" cy="207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206"/>
                </a:lnSpc>
              </a:pPr>
              <a:r>
                <a:rPr lang="en-US" b="true" sz="935" spc="-40">
                  <a:solidFill>
                    <a:srgbClr val="483C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Partenaire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98198" y="2636310"/>
            <a:ext cx="7790149" cy="52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  <a:spcBef>
                <a:spcPct val="0"/>
              </a:spcBef>
            </a:pPr>
            <a:r>
              <a:rPr lang="en-US" sz="2970">
                <a:solidFill>
                  <a:srgbClr val="30C099"/>
                </a:solidFill>
                <a:latin typeface="Poppins"/>
                <a:ea typeface="Poppins"/>
                <a:cs typeface="Poppins"/>
                <a:sym typeface="Poppins"/>
              </a:rPr>
              <a:t>lien github : </a:t>
            </a:r>
            <a:r>
              <a:rPr lang="en-US" sz="2970" u="sng">
                <a:solidFill>
                  <a:srgbClr val="30C099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RouaultBaptiste/uml-projet"/>
              </a:rPr>
              <a:t>baptiste rouault uml projet</a:t>
            </a:r>
            <a:r>
              <a:rPr lang="en-US" sz="2970">
                <a:solidFill>
                  <a:srgbClr val="30C0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98198" y="4135411"/>
            <a:ext cx="7790149" cy="52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  <a:spcBef>
                <a:spcPct val="0"/>
              </a:spcBef>
            </a:pPr>
            <a:r>
              <a:rPr lang="en-US" sz="2970">
                <a:solidFill>
                  <a:srgbClr val="30C099"/>
                </a:solidFill>
                <a:latin typeface="Poppins"/>
                <a:ea typeface="Poppins"/>
                <a:cs typeface="Poppins"/>
                <a:sym typeface="Poppins"/>
              </a:rPr>
              <a:t>lien maquette : </a:t>
            </a:r>
            <a:r>
              <a:rPr lang="en-US" sz="2970" u="sng">
                <a:solidFill>
                  <a:srgbClr val="30C099"/>
                </a:solidFill>
                <a:latin typeface="Poppins"/>
                <a:ea typeface="Poppins"/>
                <a:cs typeface="Poppins"/>
                <a:sym typeface="Poppins"/>
                <a:hlinkClick r:id="rId6" tooltip="https://www.figma.com/design/HDBPwo9bajFaf4wrRu3ZE9/Login-Page-design--Community-?node-id=0-1&amp;t=bawmsQr3TcxGzJxY-1"/>
              </a:rPr>
              <a:t>figma Baptiste Rouault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4819" y="6920209"/>
            <a:ext cx="5109551" cy="51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Travail de formation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7919193"/>
            <a:ext cx="7362502" cy="51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4117" spc="-177">
                <a:solidFill>
                  <a:srgbClr val="30C099"/>
                </a:solidFill>
                <a:latin typeface="Poppins Bold"/>
                <a:ea typeface="Poppins Bold"/>
                <a:cs typeface="Poppins Bold"/>
                <a:sym typeface="Poppins Bold"/>
              </a:rPr>
              <a:t>Rouault Baptiste &amp; Diginamic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555" y="9444750"/>
            <a:ext cx="637423" cy="675179"/>
            <a:chOff x="0" y="0"/>
            <a:chExt cx="849898" cy="900238"/>
          </a:xfrm>
        </p:grpSpPr>
        <p:grpSp>
          <p:nvGrpSpPr>
            <p:cNvPr name="Group 26" id="26"/>
            <p:cNvGrpSpPr/>
            <p:nvPr/>
          </p:nvGrpSpPr>
          <p:grpSpPr>
            <a:xfrm rot="-5400000">
              <a:off x="359962" y="580337"/>
              <a:ext cx="67076" cy="572728"/>
              <a:chOff x="0" y="0"/>
              <a:chExt cx="31981" cy="2730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1981" cy="273072"/>
              </a:xfrm>
              <a:custGeom>
                <a:avLst/>
                <a:gdLst/>
                <a:ahLst/>
                <a:cxnLst/>
                <a:rect r="r" b="b" t="t" l="l"/>
                <a:pathLst>
                  <a:path h="273072" w="31981">
                    <a:moveTo>
                      <a:pt x="0" y="0"/>
                    </a:moveTo>
                    <a:lnTo>
                      <a:pt x="31981" y="0"/>
                    </a:lnTo>
                    <a:lnTo>
                      <a:pt x="31981" y="273072"/>
                    </a:lnTo>
                    <a:lnTo>
                      <a:pt x="0" y="2730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91E27">
                      <a:alpha val="100000"/>
                    </a:srgbClr>
                  </a:gs>
                  <a:gs pos="100000">
                    <a:srgbClr val="48F0E7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31981" cy="29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52400"/>
              <a:ext cx="849898" cy="680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4117" spc="-177">
                  <a:solidFill>
                    <a:srgbClr val="30C0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DAG-M4OXyQY</dc:identifier>
  <dcterms:modified xsi:type="dcterms:W3CDTF">2011-08-01T06:04:30Z</dcterms:modified>
  <cp:revision>1</cp:revision>
  <dc:title>Copie de Copie de Copie de Bleu Jaune Moderne Professionnel Marketing Présentation</dc:title>
</cp:coreProperties>
</file>